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51BDA-A3BC-80C7-90DC-E2C5F822D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0CDFE2-5E9C-7105-0CA7-2EF709314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701D2-8579-2918-E3AD-905769A7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E4E3BC-17E1-AF56-0E1A-425F6C9D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9E506A-417B-F8AF-F854-3638A9FC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37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0BE84-E2DE-66E2-4A89-141BF146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20CD55-F504-8DCA-6584-8F371CA9A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9B0F16-7FB5-8823-A94F-5A650F5D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4CF159-6CE9-7759-2799-F3E5CB42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A9E508-23CD-5507-C3EA-2694A9B7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9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A2C9B8-E0EF-45CC-2A3B-91170E8B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BC4316-E60C-3A70-7128-4BD9901D0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6FFE8-D079-724F-D2B3-2AAEE058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E19531-D62E-C11B-8713-4A1721AE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6F5FAC-6BCE-5E51-BE73-D71A6A53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545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5A79E2-8C54-1405-00BD-DB1F4267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912B96-B4E8-D854-06A8-10CD89FC8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A5791B-BFC9-C9CC-82C7-200E6B8C3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685E7C-7B89-24DA-00AD-F872D6A10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A772B6-4F47-5BE2-2750-D060AFA0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47A904-81C5-958D-3509-DF93FF1B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77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68E00-30BC-AA82-2027-E608D02FD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8541FC-1432-85EF-7127-ED190C618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4DD669-CB91-634F-F399-6F8830CBD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E7F68B-9B7B-37B1-BD0A-961E2854B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AA89201-DA75-ADDB-8AD3-74B506C44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89FC87-385B-DF02-B0D3-20542CF0E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A4E248-095E-94AB-D48E-F7CC9C8C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4A6D5E-8352-E7BE-7AD6-3DF636EF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898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C29BE-411C-349C-456D-5BC8E3E3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CFDDE78-AED7-920F-E617-D9813EC6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AE27A8-57ED-36BE-AEDB-1F96AD482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A1A12F-48DF-9516-1B1F-209BD0CE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590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F1FB65-8068-FB26-90B6-1DB56EAD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4EF087-2CFC-BB68-2D38-DC9F799A3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57F8C2-8355-AAE0-683C-8B3C43B6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968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7D1B78-924A-047D-2C5F-03298F8D4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A5AD4-31A9-078F-AE0F-A6B39B49B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4CB5B3-3C8E-D9AC-FF12-A243E56D6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77BA4A-084E-6790-1244-231A2D2A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C581A0-3D0C-B2B6-478A-65815EB5E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23331B-EB83-EE36-A483-79A6FD7C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11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1F896-19A5-3942-A4AC-3C6134E1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C5183C-C174-171F-149A-723CC0C9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781591-B189-90F0-3FDA-4EFB72CB3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73A85-2CDE-F8D1-720F-A273994FF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6CCA6F-2441-9B57-EAB8-6C3850ED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90C904-3BBE-0A6D-6ADD-00B2A71EA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36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09F3C-3F2F-78CB-B0DB-185D862B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0B9FDC-7A64-40B0-2EF6-B59A550C8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F231C-9DA9-9034-15C9-18D0E48B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25EAA6-A14C-D1BE-63D0-A6678BED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BA601E-C646-C99B-F8FC-304DA19F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42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50A13B-4614-7D89-951C-3B7A0A204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AC63C0-43AD-653F-55DF-FC29CDD51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F209D7-70A5-2088-5E2C-736D7F4E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08962E-7041-F0AA-E7B2-618DD2CC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274FD9-D6B3-8C4D-C3FB-0C88059D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6103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5D0D3A5-FF7A-FD85-80DA-DD57732C7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AF5FE2-A576-9268-A570-F877220CB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60F3C0-8C43-C0A4-22E1-CB76ECA8A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0A22D-9A6E-4627-B1F3-2EEC133B75C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5CCF03-7F49-E3BA-AC9A-C0D3F5613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2C3F1F-A624-F8F1-8DA0-E421243EB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F108E-9380-41BC-9906-6DEB201656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69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F49E8634-3AC8-81D0-5BC4-4817B569B1A5}"/>
              </a:ext>
            </a:extLst>
          </p:cNvPr>
          <p:cNvSpPr/>
          <p:nvPr/>
        </p:nvSpPr>
        <p:spPr>
          <a:xfrm>
            <a:off x="0" y="0"/>
            <a:ext cx="3563621" cy="1869441"/>
          </a:xfrm>
          <a:custGeom>
            <a:avLst/>
            <a:gdLst/>
            <a:ahLst/>
            <a:cxnLst/>
            <a:rect l="0" t="0" r="0" b="0"/>
            <a:pathLst>
              <a:path w="3563621" h="1869441">
                <a:moveTo>
                  <a:pt x="0" y="0"/>
                </a:moveTo>
                <a:lnTo>
                  <a:pt x="1694180" y="0"/>
                </a:lnTo>
                <a:lnTo>
                  <a:pt x="3563620" y="1869440"/>
                </a:lnTo>
                <a:lnTo>
                  <a:pt x="1869440" y="186944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D90F4C3-FF34-8B2B-4AC6-C42C1953A4A0}"/>
              </a:ext>
            </a:extLst>
          </p:cNvPr>
          <p:cNvSpPr/>
          <p:nvPr/>
        </p:nvSpPr>
        <p:spPr>
          <a:xfrm>
            <a:off x="0" y="876300"/>
            <a:ext cx="993141" cy="993141"/>
          </a:xfrm>
          <a:custGeom>
            <a:avLst/>
            <a:gdLst/>
            <a:ahLst/>
            <a:cxnLst/>
            <a:rect l="0" t="0" r="0" b="0"/>
            <a:pathLst>
              <a:path w="993141" h="993141">
                <a:moveTo>
                  <a:pt x="0" y="0"/>
                </a:moveTo>
                <a:lnTo>
                  <a:pt x="993140" y="993140"/>
                </a:lnTo>
                <a:lnTo>
                  <a:pt x="0" y="99314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2BB3B-B2D0-0A89-D549-64482AE49D66}"/>
              </a:ext>
            </a:extLst>
          </p:cNvPr>
          <p:cNvSpPr txBox="1"/>
          <p:nvPr/>
        </p:nvSpPr>
        <p:spPr>
          <a:xfrm>
            <a:off x="1905000" y="2095500"/>
            <a:ext cx="889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#Unreal Engine 5  #Blueprint  #Editor Scripting  #Blender</a:t>
            </a:r>
            <a:endParaRPr lang="ko-KR" altLang="en-US" sz="1400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9EDE6-201A-B414-8355-3BE79CD9CE47}"/>
              </a:ext>
            </a:extLst>
          </p:cNvPr>
          <p:cNvSpPr txBox="1"/>
          <p:nvPr/>
        </p:nvSpPr>
        <p:spPr>
          <a:xfrm>
            <a:off x="1905000" y="2476500"/>
            <a:ext cx="9906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54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</a:t>
            </a:r>
            <a:endParaRPr lang="ko-KR" altLang="en-US" sz="5400" b="1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C224F-C3E3-32C1-09A7-31E5C7300050}"/>
              </a:ext>
            </a:extLst>
          </p:cNvPr>
          <p:cNvSpPr txBox="1"/>
          <p:nvPr/>
        </p:nvSpPr>
        <p:spPr>
          <a:xfrm>
            <a:off x="1905000" y="3429000"/>
            <a:ext cx="990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몬스터헌터 월드 모작 </a:t>
            </a:r>
            <a:r>
              <a:rPr lang="en-US" altLang="ko-KR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- 3D </a:t>
            </a:r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헌팅 액션 게임 개발 포트폴리오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BDF0C21-37D7-B23F-9F06-31D30B8B7099}"/>
              </a:ext>
            </a:extLst>
          </p:cNvPr>
          <p:cNvSpPr/>
          <p:nvPr/>
        </p:nvSpPr>
        <p:spPr>
          <a:xfrm>
            <a:off x="1905000" y="4445000"/>
            <a:ext cx="2794000" cy="15240"/>
          </a:xfrm>
          <a:prstGeom prst="rect">
            <a:avLst/>
          </a:prstGeom>
          <a:solidFill>
            <a:srgbClr val="9AA6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953E8-32AD-440D-D31F-E8523C1AA7A2}"/>
              </a:ext>
            </a:extLst>
          </p:cNvPr>
          <p:cNvSpPr txBox="1"/>
          <p:nvPr/>
        </p:nvSpPr>
        <p:spPr>
          <a:xfrm>
            <a:off x="1905000" y="4648200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Unreal Engine 5.8  |  2026.09 ~ </a:t>
            </a:r>
            <a:r>
              <a:rPr lang="ko-KR" altLang="en-US" sz="14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진행 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80A216-59BE-E210-780C-0A65A9DA108B}"/>
              </a:ext>
            </a:extLst>
          </p:cNvPr>
          <p:cNvSpPr txBox="1"/>
          <p:nvPr/>
        </p:nvSpPr>
        <p:spPr>
          <a:xfrm>
            <a:off x="1905000" y="4978400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github.com/GimBOBeat123/MHW_ReferencecGame</a:t>
            </a:r>
            <a:endParaRPr lang="ko-KR" altLang="en-US" sz="14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870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159FB994-3B04-6B90-F30A-BFD201D7F9A2}"/>
              </a:ext>
            </a:extLst>
          </p:cNvPr>
          <p:cNvSpPr/>
          <p:nvPr/>
        </p:nvSpPr>
        <p:spPr>
          <a:xfrm>
            <a:off x="0" y="0"/>
            <a:ext cx="1549401" cy="812801"/>
          </a:xfrm>
          <a:custGeom>
            <a:avLst/>
            <a:gdLst/>
            <a:ahLst/>
            <a:cxnLst/>
            <a:rect l="0" t="0" r="0" b="0"/>
            <a:pathLst>
              <a:path w="1549401" h="812801">
                <a:moveTo>
                  <a:pt x="0" y="0"/>
                </a:moveTo>
                <a:lnTo>
                  <a:pt x="736600" y="0"/>
                </a:lnTo>
                <a:lnTo>
                  <a:pt x="1549400" y="812800"/>
                </a:lnTo>
                <a:lnTo>
                  <a:pt x="812800" y="81280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9E09D074-BE91-2863-127E-791D0BBB8625}"/>
              </a:ext>
            </a:extLst>
          </p:cNvPr>
          <p:cNvSpPr/>
          <p:nvPr/>
        </p:nvSpPr>
        <p:spPr>
          <a:xfrm>
            <a:off x="0" y="381000"/>
            <a:ext cx="431801" cy="431801"/>
          </a:xfrm>
          <a:custGeom>
            <a:avLst/>
            <a:gdLst/>
            <a:ahLst/>
            <a:cxnLst/>
            <a:rect l="0" t="0" r="0" b="0"/>
            <a:pathLst>
              <a:path w="431801" h="431801">
                <a:moveTo>
                  <a:pt x="0" y="0"/>
                </a:moveTo>
                <a:lnTo>
                  <a:pt x="431800" y="431800"/>
                </a:lnTo>
                <a:lnTo>
                  <a:pt x="0" y="43180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D48B0-58CC-D957-416B-F969FDDA9220}"/>
              </a:ext>
            </a:extLst>
          </p:cNvPr>
          <p:cNvSpPr txBox="1"/>
          <p:nvPr/>
        </p:nvSpPr>
        <p:spPr>
          <a:xfrm>
            <a:off x="1905000" y="431800"/>
            <a:ext cx="889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F7B60-B69C-DA28-F385-14C0F0DA0D8F}"/>
              </a:ext>
            </a:extLst>
          </p:cNvPr>
          <p:cNvSpPr txBox="1"/>
          <p:nvPr/>
        </p:nvSpPr>
        <p:spPr>
          <a:xfrm>
            <a:off x="1905000" y="1270000"/>
            <a:ext cx="63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600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2600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09DEB-A942-BF14-8F8C-923769DD05E7}"/>
              </a:ext>
            </a:extLst>
          </p:cNvPr>
          <p:cNvSpPr txBox="1"/>
          <p:nvPr/>
        </p:nvSpPr>
        <p:spPr>
          <a:xfrm>
            <a:off x="2540000" y="12700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프로젝트 개요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022B7-2B80-4274-34FB-98F54A0D9C0B}"/>
              </a:ext>
            </a:extLst>
          </p:cNvPr>
          <p:cNvSpPr txBox="1"/>
          <p:nvPr/>
        </p:nvSpPr>
        <p:spPr>
          <a:xfrm>
            <a:off x="2540000" y="16510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플랫폼</a:t>
            </a:r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개발 환경</a:t>
            </a:r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담당 범위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353C0-63E0-3610-0FE4-AC2FE70A67E5}"/>
              </a:ext>
            </a:extLst>
          </p:cNvPr>
          <p:cNvSpPr txBox="1"/>
          <p:nvPr/>
        </p:nvSpPr>
        <p:spPr>
          <a:xfrm>
            <a:off x="9906000" y="1270000"/>
            <a:ext cx="101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16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p. 03</a:t>
            </a:r>
            <a:endParaRPr lang="ko-KR" altLang="en-US" sz="16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7BF7F9-55D1-6386-79E6-B6DA694209ED}"/>
              </a:ext>
            </a:extLst>
          </p:cNvPr>
          <p:cNvSpPr txBox="1"/>
          <p:nvPr/>
        </p:nvSpPr>
        <p:spPr>
          <a:xfrm>
            <a:off x="1905000" y="1892300"/>
            <a:ext cx="63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600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2600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89D46F-C4FC-224A-94C6-F47FE2E5400C}"/>
              </a:ext>
            </a:extLst>
          </p:cNvPr>
          <p:cNvSpPr txBox="1"/>
          <p:nvPr/>
        </p:nvSpPr>
        <p:spPr>
          <a:xfrm>
            <a:off x="2540000" y="18923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시스템 구조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AB194-F34F-53C7-E8EE-205ADB2B2F90}"/>
              </a:ext>
            </a:extLst>
          </p:cNvPr>
          <p:cNvSpPr txBox="1"/>
          <p:nvPr/>
        </p:nvSpPr>
        <p:spPr>
          <a:xfrm>
            <a:off x="2540000" y="22733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Blueprint </a:t>
            </a:r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구성과 </a:t>
            </a:r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Editor Scripting</a:t>
            </a:r>
            <a:endParaRPr lang="ko-KR" altLang="en-US" sz="12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96D4FB-068E-AD0A-624B-72F74C277C00}"/>
              </a:ext>
            </a:extLst>
          </p:cNvPr>
          <p:cNvSpPr txBox="1"/>
          <p:nvPr/>
        </p:nvSpPr>
        <p:spPr>
          <a:xfrm>
            <a:off x="9906000" y="1892300"/>
            <a:ext cx="101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16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p. 04</a:t>
            </a:r>
            <a:endParaRPr lang="ko-KR" altLang="en-US" sz="16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1655B-9308-5810-0E95-4500EB274F94}"/>
              </a:ext>
            </a:extLst>
          </p:cNvPr>
          <p:cNvSpPr txBox="1"/>
          <p:nvPr/>
        </p:nvSpPr>
        <p:spPr>
          <a:xfrm>
            <a:off x="1905000" y="2514600"/>
            <a:ext cx="63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600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2600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CABBE6-BF27-0337-AB87-9F96BA5E6B20}"/>
              </a:ext>
            </a:extLst>
          </p:cNvPr>
          <p:cNvSpPr txBox="1"/>
          <p:nvPr/>
        </p:nvSpPr>
        <p:spPr>
          <a:xfrm>
            <a:off x="2540000" y="25146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헌터 </a:t>
            </a:r>
            <a:r>
              <a:rPr lang="en-US" altLang="ko-KR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이동 </a:t>
            </a:r>
            <a:r>
              <a:rPr lang="en-US" altLang="ko-KR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구르기 </a:t>
            </a:r>
            <a:r>
              <a:rPr lang="en-US" altLang="ko-KR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장착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768F46-B013-393B-E32C-885247880F69}"/>
              </a:ext>
            </a:extLst>
          </p:cNvPr>
          <p:cNvSpPr txBox="1"/>
          <p:nvPr/>
        </p:nvSpPr>
        <p:spPr>
          <a:xfrm>
            <a:off x="2540000" y="28956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Enhanced Input, Animation Blueprint, Montage</a:t>
            </a:r>
            <a:endParaRPr lang="ko-KR" altLang="en-US" sz="12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ACE4E0-EDDC-D33C-5C31-72712304A294}"/>
              </a:ext>
            </a:extLst>
          </p:cNvPr>
          <p:cNvSpPr txBox="1"/>
          <p:nvPr/>
        </p:nvSpPr>
        <p:spPr>
          <a:xfrm>
            <a:off x="9906000" y="2514600"/>
            <a:ext cx="101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16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p. 05</a:t>
            </a:r>
            <a:endParaRPr lang="ko-KR" altLang="en-US" sz="16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7BE782-729D-6FF7-0D6B-FE295BCE924D}"/>
              </a:ext>
            </a:extLst>
          </p:cNvPr>
          <p:cNvSpPr txBox="1"/>
          <p:nvPr/>
        </p:nvSpPr>
        <p:spPr>
          <a:xfrm>
            <a:off x="1905000" y="3136900"/>
            <a:ext cx="63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600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2600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F52A7-450F-F7CB-B707-70AC28AE721A}"/>
              </a:ext>
            </a:extLst>
          </p:cNvPr>
          <p:cNvSpPr txBox="1"/>
          <p:nvPr/>
        </p:nvSpPr>
        <p:spPr>
          <a:xfrm>
            <a:off x="2540000" y="31369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대검 콤보 </a:t>
            </a:r>
            <a:r>
              <a:rPr lang="en-US" altLang="ko-KR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&amp; </a:t>
            </a:r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타격 판정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8E0060-523D-982C-0D79-D60CCF7A6074}"/>
              </a:ext>
            </a:extLst>
          </p:cNvPr>
          <p:cNvSpPr txBox="1"/>
          <p:nvPr/>
        </p:nvSpPr>
        <p:spPr>
          <a:xfrm>
            <a:off x="2540000" y="35179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차지 콤보</a:t>
            </a:r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Hitbox, ApplyDamage</a:t>
            </a:r>
            <a:endParaRPr lang="ko-KR" altLang="en-US" sz="12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3D59A2-A261-D227-652A-ECB97DE4C559}"/>
              </a:ext>
            </a:extLst>
          </p:cNvPr>
          <p:cNvSpPr txBox="1"/>
          <p:nvPr/>
        </p:nvSpPr>
        <p:spPr>
          <a:xfrm>
            <a:off x="9906000" y="3136900"/>
            <a:ext cx="101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16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p. 06</a:t>
            </a:r>
            <a:endParaRPr lang="ko-KR" altLang="en-US" sz="16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3B0607-4559-7852-A233-E2D76551C24D}"/>
              </a:ext>
            </a:extLst>
          </p:cNvPr>
          <p:cNvSpPr txBox="1"/>
          <p:nvPr/>
        </p:nvSpPr>
        <p:spPr>
          <a:xfrm>
            <a:off x="1905000" y="3759200"/>
            <a:ext cx="63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600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endParaRPr lang="ko-KR" altLang="en-US" sz="2600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F1B20C-F5EC-D41E-D4E7-07FE561D0F7F}"/>
              </a:ext>
            </a:extLst>
          </p:cNvPr>
          <p:cNvSpPr txBox="1"/>
          <p:nvPr/>
        </p:nvSpPr>
        <p:spPr>
          <a:xfrm>
            <a:off x="2540000" y="37592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트러블슈팅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D9FE59-3794-9438-69DF-C7A3AB8B0558}"/>
              </a:ext>
            </a:extLst>
          </p:cNvPr>
          <p:cNvSpPr txBox="1"/>
          <p:nvPr/>
        </p:nvSpPr>
        <p:spPr>
          <a:xfrm>
            <a:off x="2540000" y="41402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원인을 추적해 해결한 문제들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3976E3-5B92-D068-777C-C6E0D38562B3}"/>
              </a:ext>
            </a:extLst>
          </p:cNvPr>
          <p:cNvSpPr txBox="1"/>
          <p:nvPr/>
        </p:nvSpPr>
        <p:spPr>
          <a:xfrm>
            <a:off x="9906000" y="3759200"/>
            <a:ext cx="101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16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p. 07</a:t>
            </a:r>
            <a:endParaRPr lang="ko-KR" altLang="en-US" sz="16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FD3B3F-1E20-06FB-A2D1-49911B182BA8}"/>
              </a:ext>
            </a:extLst>
          </p:cNvPr>
          <p:cNvSpPr txBox="1"/>
          <p:nvPr/>
        </p:nvSpPr>
        <p:spPr>
          <a:xfrm>
            <a:off x="1905000" y="4381500"/>
            <a:ext cx="63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600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</a:t>
            </a:r>
            <a:endParaRPr lang="ko-KR" altLang="en-US" sz="2600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7E6F9E-52A2-C43A-8FA7-559EC5BD1BB9}"/>
              </a:ext>
            </a:extLst>
          </p:cNvPr>
          <p:cNvSpPr txBox="1"/>
          <p:nvPr/>
        </p:nvSpPr>
        <p:spPr>
          <a:xfrm>
            <a:off x="2540000" y="43815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몬스터 리오레이아 </a:t>
            </a:r>
            <a:r>
              <a:rPr lang="en-US" altLang="ko-KR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&amp; AI</a:t>
            </a:r>
            <a:endParaRPr lang="ko-KR" altLang="en-US" sz="2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07F810-771C-7603-468D-4BDD6D74AFFC}"/>
              </a:ext>
            </a:extLst>
          </p:cNvPr>
          <p:cNvSpPr txBox="1"/>
          <p:nvPr/>
        </p:nvSpPr>
        <p:spPr>
          <a:xfrm>
            <a:off x="2540000" y="47625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Behavior Tree, Blackboard, </a:t>
            </a:r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로직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280418-0FC0-878B-87EE-050FE368325A}"/>
              </a:ext>
            </a:extLst>
          </p:cNvPr>
          <p:cNvSpPr txBox="1"/>
          <p:nvPr/>
        </p:nvSpPr>
        <p:spPr>
          <a:xfrm>
            <a:off x="9906000" y="4381500"/>
            <a:ext cx="101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16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p. 08</a:t>
            </a:r>
            <a:endParaRPr lang="ko-KR" altLang="en-US" sz="16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DD679-833B-7786-0AD1-6FCAAC516F67}"/>
              </a:ext>
            </a:extLst>
          </p:cNvPr>
          <p:cNvSpPr txBox="1"/>
          <p:nvPr/>
        </p:nvSpPr>
        <p:spPr>
          <a:xfrm>
            <a:off x="1905000" y="5003800"/>
            <a:ext cx="63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600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</a:t>
            </a:r>
            <a:endParaRPr lang="ko-KR" altLang="en-US" sz="2600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650FF9-6677-736B-2564-1986D1EF0C32}"/>
              </a:ext>
            </a:extLst>
          </p:cNvPr>
          <p:cNvSpPr txBox="1"/>
          <p:nvPr/>
        </p:nvSpPr>
        <p:spPr>
          <a:xfrm>
            <a:off x="2540000" y="50038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아레나 레벨 </a:t>
            </a:r>
            <a:r>
              <a:rPr lang="en-US" altLang="ko-KR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&amp; </a:t>
            </a:r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에셋 임포트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C7B233-4B13-3132-819A-8D282A9B8993}"/>
              </a:ext>
            </a:extLst>
          </p:cNvPr>
          <p:cNvSpPr txBox="1"/>
          <p:nvPr/>
        </p:nvSpPr>
        <p:spPr>
          <a:xfrm>
            <a:off x="2540000" y="53848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맵</a:t>
            </a:r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</a:t>
            </a:r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애니메이션을 가져온 방법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4FC7B5-2A0E-15C8-C484-768599731990}"/>
              </a:ext>
            </a:extLst>
          </p:cNvPr>
          <p:cNvSpPr txBox="1"/>
          <p:nvPr/>
        </p:nvSpPr>
        <p:spPr>
          <a:xfrm>
            <a:off x="9906000" y="5003800"/>
            <a:ext cx="101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16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p. 09~10</a:t>
            </a:r>
            <a:endParaRPr lang="ko-KR" altLang="en-US" sz="16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6DCC1E-8124-B04F-D593-0ECDA6771D0B}"/>
              </a:ext>
            </a:extLst>
          </p:cNvPr>
          <p:cNvSpPr txBox="1"/>
          <p:nvPr/>
        </p:nvSpPr>
        <p:spPr>
          <a:xfrm>
            <a:off x="1905000" y="5626100"/>
            <a:ext cx="63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600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</a:t>
            </a:r>
            <a:endParaRPr lang="ko-KR" altLang="en-US" sz="2600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852099-C2F5-D00F-5C06-FB98D8D57267}"/>
              </a:ext>
            </a:extLst>
          </p:cNvPr>
          <p:cNvSpPr txBox="1"/>
          <p:nvPr/>
        </p:nvSpPr>
        <p:spPr>
          <a:xfrm>
            <a:off x="2540000" y="56261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한계 </a:t>
            </a:r>
            <a:r>
              <a:rPr lang="en-US" altLang="ko-KR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&amp; </a:t>
            </a:r>
            <a:r>
              <a:rPr lang="ko-KR" altLang="en-US" sz="2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향후 계획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0C2E87-BEA1-C26F-D921-CB3F54DCB60E}"/>
              </a:ext>
            </a:extLst>
          </p:cNvPr>
          <p:cNvSpPr txBox="1"/>
          <p:nvPr/>
        </p:nvSpPr>
        <p:spPr>
          <a:xfrm>
            <a:off x="9906000" y="5626100"/>
            <a:ext cx="101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16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p. 11</a:t>
            </a:r>
            <a:endParaRPr lang="ko-KR" altLang="en-US" sz="16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192ECE-0DCE-B1A7-3F36-75C4DBCC76ED}"/>
              </a:ext>
            </a:extLst>
          </p:cNvPr>
          <p:cNvSpPr txBox="1"/>
          <p:nvPr/>
        </p:nvSpPr>
        <p:spPr>
          <a:xfrm>
            <a:off x="762000" y="64516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|  Portfolio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C0161A-27D9-A81F-A986-AD131C5B50E3}"/>
              </a:ext>
            </a:extLst>
          </p:cNvPr>
          <p:cNvSpPr txBox="1"/>
          <p:nvPr/>
        </p:nvSpPr>
        <p:spPr>
          <a:xfrm>
            <a:off x="10668000" y="64516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02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1271007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6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5385DDBC-ACD3-8EE1-0B26-68151079D104}"/>
              </a:ext>
            </a:extLst>
          </p:cNvPr>
          <p:cNvSpPr/>
          <p:nvPr/>
        </p:nvSpPr>
        <p:spPr>
          <a:xfrm>
            <a:off x="0" y="0"/>
            <a:ext cx="1549401" cy="812801"/>
          </a:xfrm>
          <a:custGeom>
            <a:avLst/>
            <a:gdLst/>
            <a:ahLst/>
            <a:cxnLst/>
            <a:rect l="0" t="0" r="0" b="0"/>
            <a:pathLst>
              <a:path w="1549401" h="812801">
                <a:moveTo>
                  <a:pt x="0" y="0"/>
                </a:moveTo>
                <a:lnTo>
                  <a:pt x="736600" y="0"/>
                </a:lnTo>
                <a:lnTo>
                  <a:pt x="1549400" y="812800"/>
                </a:lnTo>
                <a:lnTo>
                  <a:pt x="812800" y="81280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B11A69B8-4FC7-67DC-1F89-6375426CB464}"/>
              </a:ext>
            </a:extLst>
          </p:cNvPr>
          <p:cNvSpPr/>
          <p:nvPr/>
        </p:nvSpPr>
        <p:spPr>
          <a:xfrm>
            <a:off x="0" y="381000"/>
            <a:ext cx="431801" cy="431801"/>
          </a:xfrm>
          <a:custGeom>
            <a:avLst/>
            <a:gdLst/>
            <a:ahLst/>
            <a:cxnLst/>
            <a:rect l="0" t="0" r="0" b="0"/>
            <a:pathLst>
              <a:path w="431801" h="431801">
                <a:moveTo>
                  <a:pt x="0" y="0"/>
                </a:moveTo>
                <a:lnTo>
                  <a:pt x="431800" y="431800"/>
                </a:lnTo>
                <a:lnTo>
                  <a:pt x="0" y="43180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BAE2D-C9AD-654D-DE7A-0A2452C04DCB}"/>
              </a:ext>
            </a:extLst>
          </p:cNvPr>
          <p:cNvSpPr txBox="1"/>
          <p:nvPr/>
        </p:nvSpPr>
        <p:spPr>
          <a:xfrm>
            <a:off x="1905000" y="431800"/>
            <a:ext cx="889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Project Overview</a:t>
            </a:r>
            <a:endParaRPr lang="ko-KR" altLang="en-US" sz="3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DA9F5-6B2A-A1DB-52CB-CDCA6250CE7D}"/>
              </a:ext>
            </a:extLst>
          </p:cNvPr>
          <p:cNvSpPr txBox="1"/>
          <p:nvPr/>
        </p:nvSpPr>
        <p:spPr>
          <a:xfrm>
            <a:off x="1905000" y="1066800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몬스터헌터 월드를 레퍼런스로 한 </a:t>
            </a:r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3D 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헌팅 액션 게임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C479FD2-B846-601C-493D-7B596E0ED49C}"/>
              </a:ext>
            </a:extLst>
          </p:cNvPr>
          <p:cNvSpPr/>
          <p:nvPr/>
        </p:nvSpPr>
        <p:spPr>
          <a:xfrm>
            <a:off x="762000" y="1651000"/>
            <a:ext cx="10668000" cy="4724400"/>
          </a:xfrm>
          <a:prstGeom prst="roundRect">
            <a:avLst>
              <a:gd name="adj" fmla="val 3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1494D-E069-2DD3-FFF1-A0F630251EC7}"/>
              </a:ext>
            </a:extLst>
          </p:cNvPr>
          <p:cNvSpPr txBox="1"/>
          <p:nvPr/>
        </p:nvSpPr>
        <p:spPr>
          <a:xfrm>
            <a:off x="1143000" y="1905000"/>
            <a:ext cx="127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플랫폼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2EAC7A-06A9-8FCC-5C6F-3B1D7FCFE158}"/>
              </a:ext>
            </a:extLst>
          </p:cNvPr>
          <p:cNvSpPr txBox="1"/>
          <p:nvPr/>
        </p:nvSpPr>
        <p:spPr>
          <a:xfrm>
            <a:off x="2413000" y="1905000"/>
            <a:ext cx="381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PC (Windows)</a:t>
            </a:r>
            <a:endParaRPr lang="ko-KR" altLang="en-US" sz="15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CC4F2-51DF-E878-9476-6370515C96F2}"/>
              </a:ext>
            </a:extLst>
          </p:cNvPr>
          <p:cNvSpPr txBox="1"/>
          <p:nvPr/>
        </p:nvSpPr>
        <p:spPr>
          <a:xfrm>
            <a:off x="6604000" y="1905000"/>
            <a:ext cx="127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장르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8DEA2-076F-6191-27EA-912B18E42901}"/>
              </a:ext>
            </a:extLst>
          </p:cNvPr>
          <p:cNvSpPr txBox="1"/>
          <p:nvPr/>
        </p:nvSpPr>
        <p:spPr>
          <a:xfrm>
            <a:off x="7874000" y="1905000"/>
            <a:ext cx="3429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3D </a:t>
            </a:r>
            <a:r>
              <a:rPr lang="ko-KR" altLang="en-US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헌팅 액션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4F43ED-CD94-53D6-0AB3-CD04DCD9811C}"/>
              </a:ext>
            </a:extLst>
          </p:cNvPr>
          <p:cNvSpPr/>
          <p:nvPr/>
        </p:nvSpPr>
        <p:spPr>
          <a:xfrm>
            <a:off x="1143000" y="2362200"/>
            <a:ext cx="9906000" cy="9525"/>
          </a:xfrm>
          <a:prstGeom prst="rect">
            <a:avLst/>
          </a:prstGeom>
          <a:solidFill>
            <a:srgbClr val="2A33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08DDA3-7574-7B6B-6024-FB8FB869C536}"/>
              </a:ext>
            </a:extLst>
          </p:cNvPr>
          <p:cNvSpPr txBox="1"/>
          <p:nvPr/>
        </p:nvSpPr>
        <p:spPr>
          <a:xfrm>
            <a:off x="1143000" y="2438400"/>
            <a:ext cx="127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개발 인원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E5B6A6-6047-0D3E-7832-1913A1ABB27D}"/>
              </a:ext>
            </a:extLst>
          </p:cNvPr>
          <p:cNvSpPr txBox="1"/>
          <p:nvPr/>
        </p:nvSpPr>
        <p:spPr>
          <a:xfrm>
            <a:off x="2413000" y="2438400"/>
            <a:ext cx="381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명 </a:t>
            </a:r>
            <a:r>
              <a:rPr lang="en-US" altLang="ko-KR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개인 프로젝트</a:t>
            </a:r>
            <a:r>
              <a:rPr lang="en-US" altLang="ko-KR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15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24930-37D7-0B0F-42E2-876BAC1EF8A0}"/>
              </a:ext>
            </a:extLst>
          </p:cNvPr>
          <p:cNvSpPr txBox="1"/>
          <p:nvPr/>
        </p:nvSpPr>
        <p:spPr>
          <a:xfrm>
            <a:off x="6604000" y="2438400"/>
            <a:ext cx="127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개발 기간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AEE13-055E-A41C-6174-107F18586D9D}"/>
              </a:ext>
            </a:extLst>
          </p:cNvPr>
          <p:cNvSpPr txBox="1"/>
          <p:nvPr/>
        </p:nvSpPr>
        <p:spPr>
          <a:xfrm>
            <a:off x="7874000" y="2438400"/>
            <a:ext cx="3429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2026.09.15 ~ </a:t>
            </a:r>
            <a:r>
              <a:rPr lang="ko-KR" altLang="en-US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진행 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EEE1203-5969-8571-8BFA-430AABD33311}"/>
              </a:ext>
            </a:extLst>
          </p:cNvPr>
          <p:cNvSpPr/>
          <p:nvPr/>
        </p:nvSpPr>
        <p:spPr>
          <a:xfrm>
            <a:off x="1143000" y="2895600"/>
            <a:ext cx="9906000" cy="9525"/>
          </a:xfrm>
          <a:prstGeom prst="rect">
            <a:avLst/>
          </a:prstGeom>
          <a:solidFill>
            <a:srgbClr val="2A33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BDB3CE-8B6E-CE06-7C71-03FCBA56C239}"/>
              </a:ext>
            </a:extLst>
          </p:cNvPr>
          <p:cNvSpPr txBox="1"/>
          <p:nvPr/>
        </p:nvSpPr>
        <p:spPr>
          <a:xfrm>
            <a:off x="1143000" y="2971800"/>
            <a:ext cx="127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개발 도구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3000" y="2971800"/>
            <a:ext cx="3810000" cy="3810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lvl="0">
              <a:defRPr/>
            </a:pPr>
            <a:r>
              <a:rPr lang="en-US" altLang="ko-KR" sz="1500">
                <a:solidFill>
                  <a:srgbClr val="f2f4f8"/>
                </a:solidFill>
                <a:latin typeface="맑은 고딕"/>
                <a:ea typeface="맑은 고딕"/>
              </a:rPr>
              <a:t>Unreal Engine 5.8, Blueprint, Python</a:t>
            </a:r>
            <a:r>
              <a:rPr lang="ko-KR" altLang="en-US" sz="1500">
                <a:solidFill>
                  <a:srgbClr val="f2f4f8"/>
                </a:solidFill>
                <a:latin typeface="맑은 고딕"/>
                <a:ea typeface="맑은 고딕"/>
              </a:rPr>
              <a:t> </a:t>
            </a:r>
            <a:r>
              <a:rPr lang="en-US" altLang="ko-KR" sz="1500">
                <a:solidFill>
                  <a:srgbClr val="f2f4f8"/>
                </a:solidFill>
                <a:latin typeface="맑은 고딕"/>
                <a:ea typeface="맑은 고딕"/>
              </a:rPr>
              <a:t>Script</a:t>
            </a:r>
            <a:endParaRPr lang="en-US" altLang="ko-KR" sz="1500">
              <a:solidFill>
                <a:srgbClr val="f2f4f8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AC9787-8599-BE0F-B84E-DF596C599DE5}"/>
              </a:ext>
            </a:extLst>
          </p:cNvPr>
          <p:cNvSpPr txBox="1"/>
          <p:nvPr/>
        </p:nvSpPr>
        <p:spPr>
          <a:xfrm>
            <a:off x="6604000" y="2971800"/>
            <a:ext cx="127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에셋 도구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9BBB79-CE07-B645-D2EE-D05A01CAF6BD}"/>
              </a:ext>
            </a:extLst>
          </p:cNvPr>
          <p:cNvSpPr txBox="1"/>
          <p:nvPr/>
        </p:nvSpPr>
        <p:spPr>
          <a:xfrm>
            <a:off x="7874000" y="2971800"/>
            <a:ext cx="3429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Blender (FBX / </a:t>
            </a:r>
            <a:r>
              <a:rPr lang="ko-KR" altLang="en-US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애니메이션 추출</a:t>
            </a:r>
            <a:r>
              <a:rPr lang="en-US" altLang="ko-KR" sz="15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15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A657B2-CDEE-D12B-16DA-6AF40FA504F1}"/>
              </a:ext>
            </a:extLst>
          </p:cNvPr>
          <p:cNvSpPr/>
          <p:nvPr/>
        </p:nvSpPr>
        <p:spPr>
          <a:xfrm>
            <a:off x="1143000" y="3429000"/>
            <a:ext cx="9906000" cy="9525"/>
          </a:xfrm>
          <a:prstGeom prst="rect">
            <a:avLst/>
          </a:prstGeom>
          <a:solidFill>
            <a:srgbClr val="2A33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B7BAEE-60E6-A056-E130-33114B818B4F}"/>
              </a:ext>
            </a:extLst>
          </p:cNvPr>
          <p:cNvSpPr txBox="1"/>
          <p:nvPr/>
        </p:nvSpPr>
        <p:spPr>
          <a:xfrm>
            <a:off x="1143000" y="3657600"/>
            <a:ext cx="127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요약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D5988F-EE11-D6D3-4E0D-22AA39E16C4A}"/>
              </a:ext>
            </a:extLst>
          </p:cNvPr>
          <p:cNvSpPr txBox="1"/>
          <p:nvPr/>
        </p:nvSpPr>
        <p:spPr>
          <a:xfrm>
            <a:off x="2413000" y="3632200"/>
            <a:ext cx="8636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리오레이아를 상대하는 대검 헌터 액션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조작 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콤보 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타격 판정 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몬스터 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AI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까지 전투 핵심 루프를 직접 구현하고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작업은 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Editor Python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자동화했습니다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D4A10A-6EB7-4309-82FA-6C841EEC9CA5}"/>
              </a:ext>
            </a:extLst>
          </p:cNvPr>
          <p:cNvSpPr/>
          <p:nvPr/>
        </p:nvSpPr>
        <p:spPr>
          <a:xfrm>
            <a:off x="1143000" y="4394200"/>
            <a:ext cx="9906000" cy="9525"/>
          </a:xfrm>
          <a:prstGeom prst="rect">
            <a:avLst/>
          </a:prstGeom>
          <a:solidFill>
            <a:srgbClr val="2A33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A134ED-2008-6C54-50D2-BD7720B28AA3}"/>
              </a:ext>
            </a:extLst>
          </p:cNvPr>
          <p:cNvSpPr txBox="1"/>
          <p:nvPr/>
        </p:nvSpPr>
        <p:spPr>
          <a:xfrm>
            <a:off x="1143000" y="4597400"/>
            <a:ext cx="127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담당 내용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12E291-9BEC-4185-A916-609D8CA0CECB}"/>
              </a:ext>
            </a:extLst>
          </p:cNvPr>
          <p:cNvSpPr txBox="1"/>
          <p:nvPr/>
        </p:nvSpPr>
        <p:spPr>
          <a:xfrm>
            <a:off x="2413000" y="4572000"/>
            <a:ext cx="863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헌터 캐릭터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이동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스프린트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구르기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장착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해제 시스템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대검 콤보 공격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차지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홀드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콤보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Hitbox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및 데미지 처리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몬스터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리오레이아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셋업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Behavior Tree AI,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체력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피격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공격 로직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아레나 맵 임포트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머티리얼 적용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Collision / NavMesh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구성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8E1792-F04C-CD68-B3BD-C82B23A25DDB}"/>
              </a:ext>
            </a:extLst>
          </p:cNvPr>
          <p:cNvSpPr txBox="1"/>
          <p:nvPr/>
        </p:nvSpPr>
        <p:spPr>
          <a:xfrm>
            <a:off x="762000" y="64516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|  Portfolio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4B18DD-FD1E-DACF-862E-2C61F8038D89}"/>
              </a:ext>
            </a:extLst>
          </p:cNvPr>
          <p:cNvSpPr txBox="1"/>
          <p:nvPr/>
        </p:nvSpPr>
        <p:spPr>
          <a:xfrm>
            <a:off x="10668000" y="64516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7849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8347D10-BCEE-627A-06DF-6DE0835FE1C6}"/>
              </a:ext>
            </a:extLst>
          </p:cNvPr>
          <p:cNvSpPr/>
          <p:nvPr/>
        </p:nvSpPr>
        <p:spPr>
          <a:xfrm>
            <a:off x="0" y="0"/>
            <a:ext cx="1549401" cy="812801"/>
          </a:xfrm>
          <a:custGeom>
            <a:avLst/>
            <a:gdLst/>
            <a:ahLst/>
            <a:cxnLst/>
            <a:rect l="0" t="0" r="0" b="0"/>
            <a:pathLst>
              <a:path w="1549401" h="812801">
                <a:moveTo>
                  <a:pt x="0" y="0"/>
                </a:moveTo>
                <a:lnTo>
                  <a:pt x="736600" y="0"/>
                </a:lnTo>
                <a:lnTo>
                  <a:pt x="1549400" y="812800"/>
                </a:lnTo>
                <a:lnTo>
                  <a:pt x="812800" y="81280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A2E5F2A0-3153-4F7B-4413-AC4946406974}"/>
              </a:ext>
            </a:extLst>
          </p:cNvPr>
          <p:cNvSpPr/>
          <p:nvPr/>
        </p:nvSpPr>
        <p:spPr>
          <a:xfrm>
            <a:off x="0" y="381000"/>
            <a:ext cx="431801" cy="431801"/>
          </a:xfrm>
          <a:custGeom>
            <a:avLst/>
            <a:gdLst/>
            <a:ahLst/>
            <a:cxnLst/>
            <a:rect l="0" t="0" r="0" b="0"/>
            <a:pathLst>
              <a:path w="431801" h="431801">
                <a:moveTo>
                  <a:pt x="0" y="0"/>
                </a:moveTo>
                <a:lnTo>
                  <a:pt x="431800" y="431800"/>
                </a:lnTo>
                <a:lnTo>
                  <a:pt x="0" y="43180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09A7F-95D5-9372-DE6B-C9B9E83AF722}"/>
              </a:ext>
            </a:extLst>
          </p:cNvPr>
          <p:cNvSpPr txBox="1"/>
          <p:nvPr/>
        </p:nvSpPr>
        <p:spPr>
          <a:xfrm>
            <a:off x="1905000" y="431800"/>
            <a:ext cx="889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System Architecture</a:t>
            </a:r>
            <a:endParaRPr lang="ko-KR" altLang="en-US" sz="3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36D00-887B-0358-94B9-1BFFB36B694F}"/>
              </a:ext>
            </a:extLst>
          </p:cNvPr>
          <p:cNvSpPr txBox="1"/>
          <p:nvPr/>
        </p:nvSpPr>
        <p:spPr>
          <a:xfrm>
            <a:off x="1905000" y="1066800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Blueprint 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중심 구조 </a:t>
            </a:r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헌터 </a:t>
            </a:r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</a:t>
            </a:r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몬스터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A1BF000-A359-F55C-7E86-628D131B5C45}"/>
              </a:ext>
            </a:extLst>
          </p:cNvPr>
          <p:cNvSpPr/>
          <p:nvPr/>
        </p:nvSpPr>
        <p:spPr>
          <a:xfrm>
            <a:off x="762000" y="1651000"/>
            <a:ext cx="3302000" cy="3327400"/>
          </a:xfrm>
          <a:prstGeom prst="roundRect">
            <a:avLst>
              <a:gd name="adj" fmla="val 5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ACD53-B33F-6F5B-0D8B-B72E1ED9A482}"/>
              </a:ext>
            </a:extLst>
          </p:cNvPr>
          <p:cNvSpPr txBox="1"/>
          <p:nvPr/>
        </p:nvSpPr>
        <p:spPr>
          <a:xfrm>
            <a:off x="1066800" y="1905000"/>
            <a:ext cx="279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PLAYER</a:t>
            </a:r>
            <a:endParaRPr lang="ko-KR" altLang="en-US" sz="12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C6071-AFE5-FE2B-168F-BCD6D289F0FD}"/>
              </a:ext>
            </a:extLst>
          </p:cNvPr>
          <p:cNvSpPr txBox="1"/>
          <p:nvPr/>
        </p:nvSpPr>
        <p:spPr>
          <a:xfrm>
            <a:off x="1066800" y="2362200"/>
            <a:ext cx="27432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BP_Hunter (Character)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ABP_Hunter + BPI_HunterState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IMC_Hunter / IA_Hunter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입력 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BP_HunterGameMode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이동 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콤보 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장착 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Montage</a:t>
            </a:r>
            <a:endParaRPr lang="ko-KR" altLang="en-US" sz="14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CE53B41-3D06-09B2-6E51-77D3D60F5CAB}"/>
              </a:ext>
            </a:extLst>
          </p:cNvPr>
          <p:cNvSpPr/>
          <p:nvPr/>
        </p:nvSpPr>
        <p:spPr>
          <a:xfrm>
            <a:off x="4445000" y="1651000"/>
            <a:ext cx="3302000" cy="3327400"/>
          </a:xfrm>
          <a:prstGeom prst="roundRect">
            <a:avLst>
              <a:gd name="adj" fmla="val 5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18B32-B43C-47B6-0B0C-7B67FA6251C0}"/>
              </a:ext>
            </a:extLst>
          </p:cNvPr>
          <p:cNvSpPr txBox="1"/>
          <p:nvPr/>
        </p:nvSpPr>
        <p:spPr>
          <a:xfrm>
            <a:off x="4749800" y="1905000"/>
            <a:ext cx="279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WEAPON &amp; DAMAGE</a:t>
            </a:r>
            <a:endParaRPr lang="ko-KR" altLang="en-US" sz="12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F1A6FD-F428-94E4-D02C-A3215FBB1706}"/>
              </a:ext>
            </a:extLst>
          </p:cNvPr>
          <p:cNvSpPr txBox="1"/>
          <p:nvPr/>
        </p:nvSpPr>
        <p:spPr>
          <a:xfrm>
            <a:off x="4749800" y="2362200"/>
            <a:ext cx="27432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BP_GreatSword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AttackTrace (Box, Pawn Overlap)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weapon_r / weapon_Back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소켓 전환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HitActors(Set)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중복 피격 방지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ApplyDamage</a:t>
            </a:r>
            <a:endParaRPr lang="ko-KR" altLang="en-US" sz="14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9312FD9-3C9D-3449-74F2-C046FC932DBD}"/>
              </a:ext>
            </a:extLst>
          </p:cNvPr>
          <p:cNvSpPr/>
          <p:nvPr/>
        </p:nvSpPr>
        <p:spPr>
          <a:xfrm>
            <a:off x="8128000" y="1651000"/>
            <a:ext cx="3302000" cy="3327400"/>
          </a:xfrm>
          <a:prstGeom prst="roundRect">
            <a:avLst>
              <a:gd name="adj" fmla="val 5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FCBC17-CF71-BE1A-6025-72D401D47008}"/>
              </a:ext>
            </a:extLst>
          </p:cNvPr>
          <p:cNvSpPr txBox="1"/>
          <p:nvPr/>
        </p:nvSpPr>
        <p:spPr>
          <a:xfrm>
            <a:off x="8432800" y="1905000"/>
            <a:ext cx="279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MONSTER AI</a:t>
            </a:r>
            <a:endParaRPr lang="ko-KR" altLang="en-US" sz="12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5B516B-4E3E-2DE3-F4C6-9657E09254E5}"/>
              </a:ext>
            </a:extLst>
          </p:cNvPr>
          <p:cNvSpPr txBox="1"/>
          <p:nvPr/>
        </p:nvSpPr>
        <p:spPr>
          <a:xfrm>
            <a:off x="8432800" y="2362200"/>
            <a:ext cx="27432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BP_RR_Character (Health, </a:t>
            </a:r>
            <a:r>
              <a:rPr lang="ko-KR" altLang="en-US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사망</a:t>
            </a: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ABP_RR + 1D Locomotion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BP_RR_AIController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BT_RR_AI / BB_RR_AI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4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BTS_RR_UpdateTarget</a:t>
            </a:r>
            <a:endParaRPr lang="ko-KR" altLang="en-US" sz="14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56F259EC-4BA5-F231-E648-1744887D9D1F}"/>
              </a:ext>
            </a:extLst>
          </p:cNvPr>
          <p:cNvSpPr/>
          <p:nvPr/>
        </p:nvSpPr>
        <p:spPr>
          <a:xfrm>
            <a:off x="4089400" y="3187700"/>
            <a:ext cx="330200" cy="254000"/>
          </a:xfrm>
          <a:prstGeom prst="rightArrow">
            <a:avLst/>
          </a:prstGeom>
          <a:solidFill>
            <a:srgbClr val="9AA6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622CF47D-1D28-6839-DEC5-090BECF6E940}"/>
              </a:ext>
            </a:extLst>
          </p:cNvPr>
          <p:cNvSpPr/>
          <p:nvPr/>
        </p:nvSpPr>
        <p:spPr>
          <a:xfrm>
            <a:off x="7772400" y="3187700"/>
            <a:ext cx="330200" cy="254000"/>
          </a:xfrm>
          <a:prstGeom prst="rightArrow">
            <a:avLst/>
          </a:prstGeom>
          <a:solidFill>
            <a:srgbClr val="9AA6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44078-E918-8D81-4EC9-822992366FE3}"/>
              </a:ext>
            </a:extLst>
          </p:cNvPr>
          <p:cNvSpPr txBox="1"/>
          <p:nvPr/>
        </p:nvSpPr>
        <p:spPr>
          <a:xfrm>
            <a:off x="762000" y="5435600"/>
            <a:ext cx="330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1495027-AF96-C09D-DEB2-A910618D466A}"/>
              </a:ext>
            </a:extLst>
          </p:cNvPr>
          <p:cNvSpPr/>
          <p:nvPr/>
        </p:nvSpPr>
        <p:spPr>
          <a:xfrm>
            <a:off x="762000" y="5232400"/>
            <a:ext cx="10668000" cy="889000"/>
          </a:xfrm>
          <a:prstGeom prst="roundRect">
            <a:avLst>
              <a:gd name="adj" fmla="val 20000"/>
            </a:avLst>
          </a:prstGeom>
          <a:solidFill>
            <a:srgbClr val="2A33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B21511-774F-AA24-2BD0-D1078B45D8D5}"/>
              </a:ext>
            </a:extLst>
          </p:cNvPr>
          <p:cNvSpPr txBox="1"/>
          <p:nvPr/>
        </p:nvSpPr>
        <p:spPr>
          <a:xfrm>
            <a:off x="1066800" y="5232400"/>
            <a:ext cx="10160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Blueprint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게임 로직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Python Editor Scripting(BlueprintEditorLibrary)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변수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이벤트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노드 연결을 코드로 생성하고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실행 로그와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verify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스크립트로 결과를 검증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7E0987-2698-BE57-8603-FBEC7855AE63}"/>
              </a:ext>
            </a:extLst>
          </p:cNvPr>
          <p:cNvSpPr txBox="1"/>
          <p:nvPr/>
        </p:nvSpPr>
        <p:spPr>
          <a:xfrm>
            <a:off x="762000" y="64516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|  Portfolio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D646D3-6FD9-D49B-FAFE-E097FB7AD454}"/>
              </a:ext>
            </a:extLst>
          </p:cNvPr>
          <p:cNvSpPr txBox="1"/>
          <p:nvPr/>
        </p:nvSpPr>
        <p:spPr>
          <a:xfrm>
            <a:off x="10668000" y="64516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04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936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43BA1DD-B7E8-423F-D772-8C91760AC68A}"/>
              </a:ext>
            </a:extLst>
          </p:cNvPr>
          <p:cNvSpPr/>
          <p:nvPr/>
        </p:nvSpPr>
        <p:spPr>
          <a:xfrm>
            <a:off x="0" y="0"/>
            <a:ext cx="1549401" cy="812801"/>
          </a:xfrm>
          <a:custGeom>
            <a:avLst/>
            <a:gdLst/>
            <a:ahLst/>
            <a:cxnLst/>
            <a:rect l="0" t="0" r="0" b="0"/>
            <a:pathLst>
              <a:path w="1549401" h="812801">
                <a:moveTo>
                  <a:pt x="0" y="0"/>
                </a:moveTo>
                <a:lnTo>
                  <a:pt x="736600" y="0"/>
                </a:lnTo>
                <a:lnTo>
                  <a:pt x="1549400" y="812800"/>
                </a:lnTo>
                <a:lnTo>
                  <a:pt x="812800" y="81280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E6BFE85C-062B-4045-7256-66A2C87149E0}"/>
              </a:ext>
            </a:extLst>
          </p:cNvPr>
          <p:cNvSpPr/>
          <p:nvPr/>
        </p:nvSpPr>
        <p:spPr>
          <a:xfrm>
            <a:off x="0" y="381000"/>
            <a:ext cx="431801" cy="431801"/>
          </a:xfrm>
          <a:custGeom>
            <a:avLst/>
            <a:gdLst/>
            <a:ahLst/>
            <a:cxnLst/>
            <a:rect l="0" t="0" r="0" b="0"/>
            <a:pathLst>
              <a:path w="431801" h="431801">
                <a:moveTo>
                  <a:pt x="0" y="0"/>
                </a:moveTo>
                <a:lnTo>
                  <a:pt x="431800" y="431800"/>
                </a:lnTo>
                <a:lnTo>
                  <a:pt x="0" y="43180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D2AC3-BB22-7476-2F46-B1DFE8F375F3}"/>
              </a:ext>
            </a:extLst>
          </p:cNvPr>
          <p:cNvSpPr txBox="1"/>
          <p:nvPr/>
        </p:nvSpPr>
        <p:spPr>
          <a:xfrm>
            <a:off x="1905000" y="431800"/>
            <a:ext cx="889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Hunter - </a:t>
            </a:r>
            <a:r>
              <a:rPr lang="ko-KR" altLang="en-US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이동 </a:t>
            </a:r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구르기 </a:t>
            </a:r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장착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2F0B0-CE60-90E3-E258-A471E9BC2399}"/>
              </a:ext>
            </a:extLst>
          </p:cNvPr>
          <p:cNvSpPr txBox="1"/>
          <p:nvPr/>
        </p:nvSpPr>
        <p:spPr>
          <a:xfrm>
            <a:off x="1905000" y="1066800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Enhanced Input + Animation Blueprint 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기반 캐릭터 컨트롤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BAAE633-C0BA-73CB-E36D-658DB2ABF97E}"/>
              </a:ext>
            </a:extLst>
          </p:cNvPr>
          <p:cNvSpPr/>
          <p:nvPr/>
        </p:nvSpPr>
        <p:spPr>
          <a:xfrm>
            <a:off x="762000" y="1600200"/>
            <a:ext cx="5270500" cy="2260600"/>
          </a:xfrm>
          <a:prstGeom prst="roundRect">
            <a:avLst>
              <a:gd name="adj" fmla="val 5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0CC879C-61B4-172A-05D6-315CC7408D20}"/>
              </a:ext>
            </a:extLst>
          </p:cNvPr>
          <p:cNvSpPr/>
          <p:nvPr/>
        </p:nvSpPr>
        <p:spPr>
          <a:xfrm>
            <a:off x="1041400" y="1879600"/>
            <a:ext cx="431800" cy="4318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161B24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5AA6F-3436-4984-E2F2-6BE109E7EFF4}"/>
              </a:ext>
            </a:extLst>
          </p:cNvPr>
          <p:cNvSpPr txBox="1"/>
          <p:nvPr/>
        </p:nvSpPr>
        <p:spPr>
          <a:xfrm>
            <a:off x="1625600" y="1879600"/>
            <a:ext cx="41529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이동 </a:t>
            </a:r>
            <a:r>
              <a:rPr lang="en-US" altLang="ko-KR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스프린트 </a:t>
            </a:r>
            <a:r>
              <a:rPr lang="en-US" altLang="ko-KR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구르기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DD8E72-957F-C441-AD44-A536F14271DA}"/>
              </a:ext>
            </a:extLst>
          </p:cNvPr>
          <p:cNvSpPr txBox="1"/>
          <p:nvPr/>
        </p:nvSpPr>
        <p:spPr>
          <a:xfrm>
            <a:off x="1066800" y="2565400"/>
            <a:ext cx="46609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IMC_Hunter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Move · Look · Sprint · Roll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입력 분리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Idle-Walk-Run Blend Space,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 임계값 튜닝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무장 중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Shift: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달리며 납도 후 스프린트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(MHW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방식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앞구르기 몽타주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(IA_HunterRoll)</a:t>
            </a:r>
            <a:endParaRPr lang="ko-KR" altLang="en-US" sz="1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6F6137-6A4E-11B3-E188-E01BA242CE21}"/>
              </a:ext>
            </a:extLst>
          </p:cNvPr>
          <p:cNvSpPr/>
          <p:nvPr/>
        </p:nvSpPr>
        <p:spPr>
          <a:xfrm>
            <a:off x="762000" y="4013200"/>
            <a:ext cx="5270500" cy="2260600"/>
          </a:xfrm>
          <a:prstGeom prst="roundRect">
            <a:avLst>
              <a:gd name="adj" fmla="val 5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472307D-DF15-BF7B-9FCF-995C2E89877C}"/>
              </a:ext>
            </a:extLst>
          </p:cNvPr>
          <p:cNvSpPr/>
          <p:nvPr/>
        </p:nvSpPr>
        <p:spPr>
          <a:xfrm>
            <a:off x="1041400" y="4292600"/>
            <a:ext cx="431800" cy="4318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161B24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07E92D-DEAD-FC75-528F-C6A8B7B9584D}"/>
              </a:ext>
            </a:extLst>
          </p:cNvPr>
          <p:cNvSpPr txBox="1"/>
          <p:nvPr/>
        </p:nvSpPr>
        <p:spPr>
          <a:xfrm>
            <a:off x="1625600" y="4292600"/>
            <a:ext cx="41529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장착 </a:t>
            </a:r>
            <a:r>
              <a:rPr lang="en-US" altLang="ko-KR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1A564C-CCCD-97D1-86E2-81947C5D3E03}"/>
              </a:ext>
            </a:extLst>
          </p:cNvPr>
          <p:cNvSpPr txBox="1"/>
          <p:nvPr/>
        </p:nvSpPr>
        <p:spPr>
          <a:xfrm>
            <a:off x="1066800" y="4978400"/>
            <a:ext cx="46609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발도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납도 애니메이션을 상태별로 분리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Idle / Walk / Run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별 해제 몽타주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타이머로 무기 소켓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등 ↔ 손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전환 타이밍 동기화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납도 딜레이 버그를 함수 단위로 정리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3628B39-BB92-C6B1-2581-E85C6B222A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1600200"/>
            <a:ext cx="2540000" cy="4673600"/>
          </a:xfrm>
          <a:prstGeom prst="roundRect">
            <a:avLst>
              <a:gd name="adj" fmla="val 4000"/>
            </a:avLst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BB0E784-0816-2BE3-7E15-8449C5B4F9A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0" y="1600200"/>
            <a:ext cx="2476500" cy="4673600"/>
          </a:xfrm>
          <a:prstGeom prst="roundRect">
            <a:avLst>
              <a:gd name="adj" fmla="val 4000"/>
            </a:avLst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980CF75-3FCC-0557-4F5C-5A0673874B45}"/>
              </a:ext>
            </a:extLst>
          </p:cNvPr>
          <p:cNvSpPr/>
          <p:nvPr/>
        </p:nvSpPr>
        <p:spPr>
          <a:xfrm>
            <a:off x="6438900" y="5842000"/>
            <a:ext cx="990600" cy="279400"/>
          </a:xfrm>
          <a:prstGeom prst="roundRect">
            <a:avLst>
              <a:gd name="adj" fmla="val 30000"/>
            </a:avLst>
          </a:prstGeom>
          <a:solidFill>
            <a:srgbClr val="161B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>
                <a:solidFill>
                  <a:srgbClr val="7FD6B0"/>
                </a:solidFill>
                <a:latin typeface="Malgun Gothic" panose="020B0503020000020004" pitchFamily="50" charset="-127"/>
              </a:rPr>
              <a:t>장착 상태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44929D2-0EF0-EC9D-A7C9-D698FF19967E}"/>
              </a:ext>
            </a:extLst>
          </p:cNvPr>
          <p:cNvSpPr/>
          <p:nvPr/>
        </p:nvSpPr>
        <p:spPr>
          <a:xfrm>
            <a:off x="9105900" y="5842000"/>
            <a:ext cx="990600" cy="279400"/>
          </a:xfrm>
          <a:prstGeom prst="roundRect">
            <a:avLst>
              <a:gd name="adj" fmla="val 30000"/>
            </a:avLst>
          </a:prstGeom>
          <a:solidFill>
            <a:srgbClr val="161B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>
                <a:solidFill>
                  <a:srgbClr val="7FD6B0"/>
                </a:solidFill>
                <a:latin typeface="Malgun Gothic" panose="020B0503020000020004" pitchFamily="50" charset="-127"/>
              </a:rPr>
              <a:t>해제 상태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8AEEE1-EA64-AB8B-4220-8184218BF28C}"/>
              </a:ext>
            </a:extLst>
          </p:cNvPr>
          <p:cNvSpPr txBox="1"/>
          <p:nvPr/>
        </p:nvSpPr>
        <p:spPr>
          <a:xfrm>
            <a:off x="762000" y="64516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|  Portfolio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EA8035-14D5-90C4-71B0-8A017CCCF306}"/>
              </a:ext>
            </a:extLst>
          </p:cNvPr>
          <p:cNvSpPr txBox="1"/>
          <p:nvPr/>
        </p:nvSpPr>
        <p:spPr>
          <a:xfrm>
            <a:off x="10668000" y="64516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05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024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B05D17D3-0451-5DFD-3A23-F64B6DAE39B5}"/>
              </a:ext>
            </a:extLst>
          </p:cNvPr>
          <p:cNvSpPr/>
          <p:nvPr/>
        </p:nvSpPr>
        <p:spPr>
          <a:xfrm>
            <a:off x="0" y="0"/>
            <a:ext cx="1549401" cy="812801"/>
          </a:xfrm>
          <a:custGeom>
            <a:avLst/>
            <a:gdLst/>
            <a:ahLst/>
            <a:cxnLst/>
            <a:rect l="0" t="0" r="0" b="0"/>
            <a:pathLst>
              <a:path w="1549401" h="812801">
                <a:moveTo>
                  <a:pt x="0" y="0"/>
                </a:moveTo>
                <a:lnTo>
                  <a:pt x="736600" y="0"/>
                </a:lnTo>
                <a:lnTo>
                  <a:pt x="1549400" y="812800"/>
                </a:lnTo>
                <a:lnTo>
                  <a:pt x="812800" y="81280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60EE663D-13E1-3312-581B-9F048D8CA92F}"/>
              </a:ext>
            </a:extLst>
          </p:cNvPr>
          <p:cNvSpPr/>
          <p:nvPr/>
        </p:nvSpPr>
        <p:spPr>
          <a:xfrm>
            <a:off x="0" y="381000"/>
            <a:ext cx="431801" cy="431801"/>
          </a:xfrm>
          <a:custGeom>
            <a:avLst/>
            <a:gdLst/>
            <a:ahLst/>
            <a:cxnLst/>
            <a:rect l="0" t="0" r="0" b="0"/>
            <a:pathLst>
              <a:path w="431801" h="431801">
                <a:moveTo>
                  <a:pt x="0" y="0"/>
                </a:moveTo>
                <a:lnTo>
                  <a:pt x="431800" y="431800"/>
                </a:lnTo>
                <a:lnTo>
                  <a:pt x="0" y="43180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B27A6-63C1-80DD-C2E8-C995F89B1496}"/>
              </a:ext>
            </a:extLst>
          </p:cNvPr>
          <p:cNvSpPr txBox="1"/>
          <p:nvPr/>
        </p:nvSpPr>
        <p:spPr>
          <a:xfrm>
            <a:off x="1905000" y="431800"/>
            <a:ext cx="889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Greatsword Combo &amp; Hit Detection</a:t>
            </a:r>
            <a:endParaRPr lang="ko-KR" altLang="en-US" sz="3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B1409-988C-BE61-B076-11BF961E5618}"/>
              </a:ext>
            </a:extLst>
          </p:cNvPr>
          <p:cNvSpPr txBox="1"/>
          <p:nvPr/>
        </p:nvSpPr>
        <p:spPr>
          <a:xfrm>
            <a:off x="1905000" y="1066800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대검 콤보 공격과 타격 판정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96406-BE8F-44BC-B3A3-E354A61E41FA}"/>
              </a:ext>
            </a:extLst>
          </p:cNvPr>
          <p:cNvSpPr txBox="1"/>
          <p:nvPr/>
        </p:nvSpPr>
        <p:spPr>
          <a:xfrm>
            <a:off x="762000" y="1625600"/>
            <a:ext cx="381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COMBO FLOW</a:t>
            </a:r>
            <a:endParaRPr lang="ko-KR" altLang="en-US" sz="12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화살표: 오각형 6">
            <a:extLst>
              <a:ext uri="{FF2B5EF4-FFF2-40B4-BE49-F238E27FC236}">
                <a16:creationId xmlns:a16="http://schemas.microsoft.com/office/drawing/2014/main" id="{850F48B3-2752-4CFB-1258-C76D0F4466BB}"/>
              </a:ext>
            </a:extLst>
          </p:cNvPr>
          <p:cNvSpPr/>
          <p:nvPr/>
        </p:nvSpPr>
        <p:spPr>
          <a:xfrm>
            <a:off x="762000" y="1981200"/>
            <a:ext cx="1498600" cy="558800"/>
          </a:xfrm>
          <a:prstGeom prst="homePlate">
            <a:avLst/>
          </a:prstGeom>
          <a:solidFill>
            <a:srgbClr val="2A33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</a:rPr>
              <a:t>Attack1</a:t>
            </a:r>
            <a:endParaRPr lang="ko-KR" altLang="en-US" sz="1200">
              <a:solidFill>
                <a:srgbClr val="F2F4F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C49BF3B1-4C90-05B8-EB83-BB7456E0CFE4}"/>
              </a:ext>
            </a:extLst>
          </p:cNvPr>
          <p:cNvSpPr/>
          <p:nvPr/>
        </p:nvSpPr>
        <p:spPr>
          <a:xfrm>
            <a:off x="2184400" y="1981200"/>
            <a:ext cx="1498600" cy="558800"/>
          </a:xfrm>
          <a:prstGeom prst="homePlate">
            <a:avLst/>
          </a:prstGeom>
          <a:solidFill>
            <a:srgbClr val="2A33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</a:rPr>
              <a:t>Attack2</a:t>
            </a:r>
            <a:endParaRPr lang="ko-KR" altLang="en-US" sz="1200">
              <a:solidFill>
                <a:srgbClr val="F2F4F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04FB4-EB1B-5461-16E6-A7D949DA84C6}"/>
              </a:ext>
            </a:extLst>
          </p:cNvPr>
          <p:cNvSpPr txBox="1"/>
          <p:nvPr/>
        </p:nvSpPr>
        <p:spPr>
          <a:xfrm>
            <a:off x="3810000" y="2133600"/>
            <a:ext cx="152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콤보</a:t>
            </a: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53FCD7D0-8169-F384-4408-21CB60D2394C}"/>
              </a:ext>
            </a:extLst>
          </p:cNvPr>
          <p:cNvSpPr/>
          <p:nvPr/>
        </p:nvSpPr>
        <p:spPr>
          <a:xfrm>
            <a:off x="762000" y="2692400"/>
            <a:ext cx="1651000" cy="558800"/>
          </a:xfrm>
          <a:prstGeom prst="homePlate">
            <a:avLst/>
          </a:pr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</a:rPr>
              <a:t>Charge 1</a:t>
            </a:r>
            <a:endParaRPr lang="ko-KR" altLang="en-US" sz="1200">
              <a:solidFill>
                <a:srgbClr val="F2F4F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C8CCE8D5-31CB-FA4A-B57F-ED0FE6D1590D}"/>
              </a:ext>
            </a:extLst>
          </p:cNvPr>
          <p:cNvSpPr/>
          <p:nvPr/>
        </p:nvSpPr>
        <p:spPr>
          <a:xfrm>
            <a:off x="2362200" y="2692400"/>
            <a:ext cx="1651000" cy="558800"/>
          </a:xfrm>
          <a:prstGeom prst="homePlate">
            <a:avLst/>
          </a:pr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</a:rPr>
              <a:t>1 → 2</a:t>
            </a:r>
            <a:endParaRPr lang="ko-KR" altLang="en-US" sz="1200">
              <a:solidFill>
                <a:srgbClr val="F2F4F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화살표: 오각형 11">
            <a:extLst>
              <a:ext uri="{FF2B5EF4-FFF2-40B4-BE49-F238E27FC236}">
                <a16:creationId xmlns:a16="http://schemas.microsoft.com/office/drawing/2014/main" id="{013B370E-1AB5-3B8B-9021-35EE901241CA}"/>
              </a:ext>
            </a:extLst>
          </p:cNvPr>
          <p:cNvSpPr/>
          <p:nvPr/>
        </p:nvSpPr>
        <p:spPr>
          <a:xfrm>
            <a:off x="3962400" y="2692400"/>
            <a:ext cx="1651000" cy="558800"/>
          </a:xfrm>
          <a:prstGeom prst="homePlate">
            <a:avLst/>
          </a:pr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</a:rPr>
              <a:t>Charge 2</a:t>
            </a:r>
            <a:endParaRPr lang="ko-KR" altLang="en-US" sz="1200">
              <a:solidFill>
                <a:srgbClr val="F2F4F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E4994C39-5941-A9C6-B686-FCCC02C00375}"/>
              </a:ext>
            </a:extLst>
          </p:cNvPr>
          <p:cNvSpPr/>
          <p:nvPr/>
        </p:nvSpPr>
        <p:spPr>
          <a:xfrm>
            <a:off x="5562600" y="2692400"/>
            <a:ext cx="1651000" cy="558800"/>
          </a:xfrm>
          <a:prstGeom prst="homePlate">
            <a:avLst/>
          </a:pr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</a:rPr>
              <a:t>2 → 3</a:t>
            </a:r>
            <a:endParaRPr lang="ko-KR" altLang="en-US" sz="1200">
              <a:solidFill>
                <a:srgbClr val="F2F4F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화살표: 오각형 13">
            <a:extLst>
              <a:ext uri="{FF2B5EF4-FFF2-40B4-BE49-F238E27FC236}">
                <a16:creationId xmlns:a16="http://schemas.microsoft.com/office/drawing/2014/main" id="{B6358463-1C87-2598-2622-AEE8BD3115E3}"/>
              </a:ext>
            </a:extLst>
          </p:cNvPr>
          <p:cNvSpPr/>
          <p:nvPr/>
        </p:nvSpPr>
        <p:spPr>
          <a:xfrm>
            <a:off x="7162800" y="2692400"/>
            <a:ext cx="1651000" cy="558800"/>
          </a:xfrm>
          <a:prstGeom prst="homePlate">
            <a:avLst/>
          </a:pr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</a:rPr>
              <a:t>Finisher</a:t>
            </a:r>
            <a:endParaRPr lang="ko-KR" altLang="en-US" sz="1200">
              <a:solidFill>
                <a:srgbClr val="F2F4F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3982BD-1A37-2FD5-B4C4-9A0D86476038}"/>
              </a:ext>
            </a:extLst>
          </p:cNvPr>
          <p:cNvSpPr txBox="1"/>
          <p:nvPr/>
        </p:nvSpPr>
        <p:spPr>
          <a:xfrm>
            <a:off x="762000" y="33274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차지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홀드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콤보  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 BigAttack1 ~ 3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몽타주 체인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DE4E443-6BE5-4FE8-29CE-18070C4E4F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625600"/>
            <a:ext cx="2286000" cy="1803400"/>
          </a:xfrm>
          <a:prstGeom prst="roundRect">
            <a:avLst>
              <a:gd name="adj" fmla="val 4000"/>
            </a:avLst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6CCF7B-260B-E4F3-1DFD-0805F12ED9F2}"/>
              </a:ext>
            </a:extLst>
          </p:cNvPr>
          <p:cNvSpPr/>
          <p:nvPr/>
        </p:nvSpPr>
        <p:spPr>
          <a:xfrm>
            <a:off x="762000" y="3810000"/>
            <a:ext cx="5080000" cy="2413000"/>
          </a:xfrm>
          <a:prstGeom prst="roundRect">
            <a:avLst>
              <a:gd name="adj" fmla="val 5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DDBC6F-C4F8-F22C-99F8-F117F4AB86E8}"/>
              </a:ext>
            </a:extLst>
          </p:cNvPr>
          <p:cNvSpPr txBox="1"/>
          <p:nvPr/>
        </p:nvSpPr>
        <p:spPr>
          <a:xfrm>
            <a:off x="1066800" y="4038600"/>
            <a:ext cx="4445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타격 판정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5F3E0-2D8A-E38C-C086-FB67206E73B0}"/>
              </a:ext>
            </a:extLst>
          </p:cNvPr>
          <p:cNvSpPr txBox="1"/>
          <p:nvPr/>
        </p:nvSpPr>
        <p:spPr>
          <a:xfrm>
            <a:off x="1066800" y="4470400"/>
            <a:ext cx="45085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BP_GreatSword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AttackTrace(Box)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판정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스윙 구간에만 콜리전을 켜고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Pawn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채널만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Overlap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HitActors(Set)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한 번의 스윙에 다중 피격 방지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ApplyDamage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몬스터 체력 시스템과 연동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6CB3996-3756-DF55-B99C-AFC2DCB72957}"/>
              </a:ext>
            </a:extLst>
          </p:cNvPr>
          <p:cNvSpPr/>
          <p:nvPr/>
        </p:nvSpPr>
        <p:spPr>
          <a:xfrm>
            <a:off x="6096000" y="3810000"/>
            <a:ext cx="5334000" cy="2413000"/>
          </a:xfrm>
          <a:prstGeom prst="roundRect">
            <a:avLst>
              <a:gd name="adj" fmla="val 5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8428FA-3460-4E5A-26FF-BD2E6860AE3F}"/>
              </a:ext>
            </a:extLst>
          </p:cNvPr>
          <p:cNvSpPr txBox="1"/>
          <p:nvPr/>
        </p:nvSpPr>
        <p:spPr>
          <a:xfrm>
            <a:off x="6400800" y="4038600"/>
            <a:ext cx="469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콤보 로직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7B5F08-5CF0-8921-81CB-3751EC9569F4}"/>
              </a:ext>
            </a:extLst>
          </p:cNvPr>
          <p:cNvSpPr txBox="1"/>
          <p:nvPr/>
        </p:nvSpPr>
        <p:spPr>
          <a:xfrm>
            <a:off x="6400800" y="4470400"/>
            <a:ext cx="47244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누르고 있으면 차지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(Hold)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유지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최대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 반복 후 자동 방출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떼는 즉시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Release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몽타주 재생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구간에 맞춰 판정 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On/Off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ComboResetTime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안에 재입력하면 다음 단계</a:t>
            </a: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아니면 리셋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bReleaseHandled </a:t>
            </a:r>
            <a:r>
              <a:rPr lang="ko-KR" altLang="en-US" sz="13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가드로 방출 중복 방지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5F86EC-A8FB-020F-11C5-0EAD709DFABA}"/>
              </a:ext>
            </a:extLst>
          </p:cNvPr>
          <p:cNvSpPr txBox="1"/>
          <p:nvPr/>
        </p:nvSpPr>
        <p:spPr>
          <a:xfrm>
            <a:off x="762000" y="64516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|  Portfolio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F3D47C-8991-821C-84FA-19DE98D11AA3}"/>
              </a:ext>
            </a:extLst>
          </p:cNvPr>
          <p:cNvSpPr txBox="1"/>
          <p:nvPr/>
        </p:nvSpPr>
        <p:spPr>
          <a:xfrm>
            <a:off x="10668000" y="64516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06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7264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442EBCBE-0AE4-957C-7AD9-A51B00D564E2}"/>
              </a:ext>
            </a:extLst>
          </p:cNvPr>
          <p:cNvSpPr/>
          <p:nvPr/>
        </p:nvSpPr>
        <p:spPr>
          <a:xfrm>
            <a:off x="0" y="0"/>
            <a:ext cx="1549401" cy="812801"/>
          </a:xfrm>
          <a:custGeom>
            <a:avLst/>
            <a:gdLst/>
            <a:ahLst/>
            <a:cxnLst/>
            <a:rect l="0" t="0" r="0" b="0"/>
            <a:pathLst>
              <a:path w="1549401" h="812801">
                <a:moveTo>
                  <a:pt x="0" y="0"/>
                </a:moveTo>
                <a:lnTo>
                  <a:pt x="736600" y="0"/>
                </a:lnTo>
                <a:lnTo>
                  <a:pt x="1549400" y="812800"/>
                </a:lnTo>
                <a:lnTo>
                  <a:pt x="812800" y="81280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98C035A2-4C0B-AF3B-4A1D-E22CA4454480}"/>
              </a:ext>
            </a:extLst>
          </p:cNvPr>
          <p:cNvSpPr/>
          <p:nvPr/>
        </p:nvSpPr>
        <p:spPr>
          <a:xfrm>
            <a:off x="0" y="381000"/>
            <a:ext cx="431801" cy="431801"/>
          </a:xfrm>
          <a:custGeom>
            <a:avLst/>
            <a:gdLst/>
            <a:ahLst/>
            <a:cxnLst/>
            <a:rect l="0" t="0" r="0" b="0"/>
            <a:pathLst>
              <a:path w="431801" h="431801">
                <a:moveTo>
                  <a:pt x="0" y="0"/>
                </a:moveTo>
                <a:lnTo>
                  <a:pt x="431800" y="431800"/>
                </a:lnTo>
                <a:lnTo>
                  <a:pt x="0" y="43180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4BA85D-5A2F-191F-1229-CFFD290D6AFA}"/>
              </a:ext>
            </a:extLst>
          </p:cNvPr>
          <p:cNvSpPr txBox="1"/>
          <p:nvPr/>
        </p:nvSpPr>
        <p:spPr>
          <a:xfrm>
            <a:off x="1905000" y="431800"/>
            <a:ext cx="889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Troubleshooting</a:t>
            </a:r>
            <a:endParaRPr lang="ko-KR" altLang="en-US" sz="3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9BB77-94E8-A558-0FAF-34E1D0BD6462}"/>
              </a:ext>
            </a:extLst>
          </p:cNvPr>
          <p:cNvSpPr txBox="1"/>
          <p:nvPr/>
        </p:nvSpPr>
        <p:spPr>
          <a:xfrm>
            <a:off x="1905000" y="1066800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시스템 구현 중 원인을 추적해 해결한 문제들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F626A-BE59-7C5F-2B95-88265D072720}"/>
              </a:ext>
            </a:extLst>
          </p:cNvPr>
          <p:cNvSpPr txBox="1"/>
          <p:nvPr/>
        </p:nvSpPr>
        <p:spPr>
          <a:xfrm>
            <a:off x="1066800" y="1625600"/>
            <a:ext cx="2921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810F7-B632-88BC-3BF7-75D5B8B638EA}"/>
              </a:ext>
            </a:extLst>
          </p:cNvPr>
          <p:cNvSpPr txBox="1"/>
          <p:nvPr/>
        </p:nvSpPr>
        <p:spPr>
          <a:xfrm>
            <a:off x="4368800" y="1625600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9C652C-02AE-AAE1-F7B2-A8C0A6F8848E}"/>
              </a:ext>
            </a:extLst>
          </p:cNvPr>
          <p:cNvSpPr txBox="1"/>
          <p:nvPr/>
        </p:nvSpPr>
        <p:spPr>
          <a:xfrm>
            <a:off x="7924800" y="1625600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8321E48-3782-45AF-ACFB-579CF042A42E}"/>
              </a:ext>
            </a:extLst>
          </p:cNvPr>
          <p:cNvSpPr/>
          <p:nvPr/>
        </p:nvSpPr>
        <p:spPr>
          <a:xfrm>
            <a:off x="762000" y="19558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9E16C0-D1B3-8743-8068-FCB05D478AD4}"/>
              </a:ext>
            </a:extLst>
          </p:cNvPr>
          <p:cNvSpPr txBox="1"/>
          <p:nvPr/>
        </p:nvSpPr>
        <p:spPr>
          <a:xfrm>
            <a:off x="1066800" y="1955800"/>
            <a:ext cx="2921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납도할 때 대검이 등 소켓으로 옮겨지지 않음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CEB024-F1B7-A02E-46B2-F4D2E9472E48}"/>
              </a:ext>
            </a:extLst>
          </p:cNvPr>
          <p:cNvSpPr txBox="1"/>
          <p:nvPr/>
        </p:nvSpPr>
        <p:spPr>
          <a:xfrm>
            <a:off x="4368800" y="19558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몽타주 </a:t>
            </a:r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Notify</a:t>
            </a:r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델리게이트로 전달되어 </a:t>
            </a:r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ABP</a:t>
            </a:r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커스텀 이벤트가 호출되지 않음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29E85-6F7C-5F5C-DA78-84CFC388F4D8}"/>
              </a:ext>
            </a:extLst>
          </p:cNvPr>
          <p:cNvSpPr txBox="1"/>
          <p:nvPr/>
        </p:nvSpPr>
        <p:spPr>
          <a:xfrm>
            <a:off x="7924800" y="19558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BP_Hunter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타이머로 소켓 교체 함수를 직접 호출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0305DD0-F29B-A314-898C-1979B8B5F5A2}"/>
              </a:ext>
            </a:extLst>
          </p:cNvPr>
          <p:cNvSpPr/>
          <p:nvPr/>
        </p:nvSpPr>
        <p:spPr>
          <a:xfrm>
            <a:off x="762000" y="30734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F25CEF-F5BB-C634-A676-67EE09B7F7F7}"/>
              </a:ext>
            </a:extLst>
          </p:cNvPr>
          <p:cNvSpPr txBox="1"/>
          <p:nvPr/>
        </p:nvSpPr>
        <p:spPr>
          <a:xfrm>
            <a:off x="1066800" y="3073400"/>
            <a:ext cx="2921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차지 콤보 릴리즈 스윙이 중간에 끊김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79BAAE-DC68-1C59-A422-2932F3E71332}"/>
              </a:ext>
            </a:extLst>
          </p:cNvPr>
          <p:cNvSpPr txBox="1"/>
          <p:nvPr/>
        </p:nvSpPr>
        <p:spPr>
          <a:xfrm>
            <a:off x="4368800" y="30734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Delay + </a:t>
            </a:r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재귀는 취소할 수 없어 이전 체인이 살아나 스윙을 덮어씀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3515D0-C30F-0CDE-ACFF-F12E841C36AA}"/>
              </a:ext>
            </a:extLst>
          </p:cNvPr>
          <p:cNvSpPr txBox="1"/>
          <p:nvPr/>
        </p:nvSpPr>
        <p:spPr>
          <a:xfrm>
            <a:off x="7924800" y="30734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 Timer by Event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바꾸고 핸들을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Clear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 이전 체인을 취소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EF42665-38C7-0C98-2A59-F744F7314781}"/>
              </a:ext>
            </a:extLst>
          </p:cNvPr>
          <p:cNvSpPr/>
          <p:nvPr/>
        </p:nvSpPr>
        <p:spPr>
          <a:xfrm>
            <a:off x="762000" y="4191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E1C942-0745-1FE2-0BAB-83E0230224DF}"/>
              </a:ext>
            </a:extLst>
          </p:cNvPr>
          <p:cNvSpPr txBox="1"/>
          <p:nvPr/>
        </p:nvSpPr>
        <p:spPr>
          <a:xfrm>
            <a:off x="1066800" y="4191000"/>
            <a:ext cx="2921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홀드 반복 시 포즈가 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1E0521-0C83-E82B-5A3F-7463843F8E7E}"/>
              </a:ext>
            </a:extLst>
          </p:cNvPr>
          <p:cNvSpPr txBox="1"/>
          <p:nvPr/>
        </p:nvSpPr>
        <p:spPr>
          <a:xfrm>
            <a:off x="4368800" y="41910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몽타주를 다시 재생하며 </a:t>
            </a:r>
            <a:r>
              <a:rPr lang="en-US" altLang="ko-KR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Blend </a:t>
            </a:r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구간에서 포즈가 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8B1BEA-185C-6A0A-662E-098D1A6CA854}"/>
              </a:ext>
            </a:extLst>
          </p:cNvPr>
          <p:cNvSpPr txBox="1"/>
          <p:nvPr/>
        </p:nvSpPr>
        <p:spPr>
          <a:xfrm>
            <a:off x="7924800" y="41910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Montage_SetNextSection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네이티브 루프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Blend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시간 조정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5B84B81-AD14-8959-1FEB-0B081D61A99C}"/>
              </a:ext>
            </a:extLst>
          </p:cNvPr>
          <p:cNvSpPr/>
          <p:nvPr/>
        </p:nvSpPr>
        <p:spPr>
          <a:xfrm>
            <a:off x="762000" y="53086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120118-9E22-22F0-05B6-6F2031EE3768}"/>
              </a:ext>
            </a:extLst>
          </p:cNvPr>
          <p:cNvSpPr txBox="1"/>
          <p:nvPr/>
        </p:nvSpPr>
        <p:spPr>
          <a:xfrm>
            <a:off x="1066800" y="5308600"/>
            <a:ext cx="2921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헌터가 자기 대검에 맞아 사망 모션 재생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53778-E65A-C21D-E988-7DD4C8F40384}"/>
              </a:ext>
            </a:extLst>
          </p:cNvPr>
          <p:cNvSpPr txBox="1"/>
          <p:nvPr/>
        </p:nvSpPr>
        <p:spPr>
          <a:xfrm>
            <a:off x="4368800" y="53086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2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오버랩 핸들러가 무기를 든 헌터 자신을 걸러내지 않음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2A0F9F-4344-6C0A-523D-B6E232E91671}"/>
              </a:ext>
            </a:extLst>
          </p:cNvPr>
          <p:cNvSpPr txBox="1"/>
          <p:nvPr/>
        </p:nvSpPr>
        <p:spPr>
          <a:xfrm>
            <a:off x="7924800" y="53086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GetAttachParentActor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비교해 자신을 제외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AB013E-CF0D-ACB1-9E98-2EE1A82ECCC5}"/>
              </a:ext>
            </a:extLst>
          </p:cNvPr>
          <p:cNvSpPr txBox="1"/>
          <p:nvPr/>
        </p:nvSpPr>
        <p:spPr>
          <a:xfrm>
            <a:off x="762000" y="64516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|  Portfolio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966C7F-503C-1066-5C59-76A4CF6F6F55}"/>
              </a:ext>
            </a:extLst>
          </p:cNvPr>
          <p:cNvSpPr txBox="1"/>
          <p:nvPr/>
        </p:nvSpPr>
        <p:spPr>
          <a:xfrm>
            <a:off x="10668000" y="64516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07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862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E016CDF3-79A9-913B-3028-6B974FC7BB16}"/>
              </a:ext>
            </a:extLst>
          </p:cNvPr>
          <p:cNvSpPr/>
          <p:nvPr/>
        </p:nvSpPr>
        <p:spPr>
          <a:xfrm>
            <a:off x="0" y="0"/>
            <a:ext cx="1549401" cy="812801"/>
          </a:xfrm>
          <a:custGeom>
            <a:avLst/>
            <a:gdLst/>
            <a:ahLst/>
            <a:cxnLst/>
            <a:rect l="0" t="0" r="0" b="0"/>
            <a:pathLst>
              <a:path w="1549401" h="812801">
                <a:moveTo>
                  <a:pt x="0" y="0"/>
                </a:moveTo>
                <a:lnTo>
                  <a:pt x="736600" y="0"/>
                </a:lnTo>
                <a:lnTo>
                  <a:pt x="1549400" y="812800"/>
                </a:lnTo>
                <a:lnTo>
                  <a:pt x="812800" y="81280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5A212F76-E71D-3712-0C36-CCF0EC1BD281}"/>
              </a:ext>
            </a:extLst>
          </p:cNvPr>
          <p:cNvSpPr/>
          <p:nvPr/>
        </p:nvSpPr>
        <p:spPr>
          <a:xfrm>
            <a:off x="0" y="381000"/>
            <a:ext cx="431801" cy="431801"/>
          </a:xfrm>
          <a:custGeom>
            <a:avLst/>
            <a:gdLst/>
            <a:ahLst/>
            <a:cxnLst/>
            <a:rect l="0" t="0" r="0" b="0"/>
            <a:pathLst>
              <a:path w="431801" h="431801">
                <a:moveTo>
                  <a:pt x="0" y="0"/>
                </a:moveTo>
                <a:lnTo>
                  <a:pt x="431800" y="431800"/>
                </a:lnTo>
                <a:lnTo>
                  <a:pt x="0" y="43180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75978-5B19-62F6-587F-B7DF4DEF535F}"/>
              </a:ext>
            </a:extLst>
          </p:cNvPr>
          <p:cNvSpPr txBox="1"/>
          <p:nvPr/>
        </p:nvSpPr>
        <p:spPr>
          <a:xfrm>
            <a:off x="1905000" y="431800"/>
            <a:ext cx="889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Monster - </a:t>
            </a:r>
            <a:r>
              <a:rPr lang="ko-KR" altLang="en-US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리오레이아 </a:t>
            </a:r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&amp; AI</a:t>
            </a:r>
            <a:endParaRPr lang="ko-KR" altLang="en-US" sz="3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DAE18-FA52-BEE2-D922-978EBE1CDCC8}"/>
              </a:ext>
            </a:extLst>
          </p:cNvPr>
          <p:cNvSpPr txBox="1"/>
          <p:nvPr/>
        </p:nvSpPr>
        <p:spPr>
          <a:xfrm>
            <a:off x="1905000" y="1066800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Blender 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리소스 추출부터 </a:t>
            </a:r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Behavior Tree 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로직까지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66DE833-8541-E643-571E-AC04313BEDC6}"/>
              </a:ext>
            </a:extLst>
          </p:cNvPr>
          <p:cNvSpPr/>
          <p:nvPr/>
        </p:nvSpPr>
        <p:spPr>
          <a:xfrm>
            <a:off x="762000" y="1600200"/>
            <a:ext cx="6604000" cy="1473200"/>
          </a:xfrm>
          <a:prstGeom prst="roundRect">
            <a:avLst>
              <a:gd name="adj" fmla="val 8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4E3D925-2751-0664-1B53-864FB765C3C7}"/>
              </a:ext>
            </a:extLst>
          </p:cNvPr>
          <p:cNvSpPr/>
          <p:nvPr/>
        </p:nvSpPr>
        <p:spPr>
          <a:xfrm>
            <a:off x="1016000" y="1828800"/>
            <a:ext cx="406400" cy="4064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161B24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2A3CD0-83D7-985C-CA8C-FC42E4F10EAC}"/>
              </a:ext>
            </a:extLst>
          </p:cNvPr>
          <p:cNvSpPr txBox="1"/>
          <p:nvPr/>
        </p:nvSpPr>
        <p:spPr>
          <a:xfrm>
            <a:off x="1016000" y="2336800"/>
            <a:ext cx="190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Asset Pipeline</a:t>
            </a:r>
            <a:endParaRPr lang="ko-KR" altLang="en-US" sz="1600" b="1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210C9-B658-DACA-B09C-72DBE30A1369}"/>
              </a:ext>
            </a:extLst>
          </p:cNvPr>
          <p:cNvSpPr txBox="1"/>
          <p:nvPr/>
        </p:nvSpPr>
        <p:spPr>
          <a:xfrm>
            <a:off x="3111500" y="1828800"/>
            <a:ext cx="400050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Blender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모델 임포트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텍스처 추출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Idle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등 기본 애니메이션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InPlace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버전 분리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ABP_RR + 1D Locomotion Blend Space</a:t>
            </a:r>
            <a:endParaRPr lang="ko-KR" altLang="en-US" sz="1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501FF64-D753-6818-5DCF-039A6ADAF084}"/>
              </a:ext>
            </a:extLst>
          </p:cNvPr>
          <p:cNvSpPr/>
          <p:nvPr/>
        </p:nvSpPr>
        <p:spPr>
          <a:xfrm>
            <a:off x="762000" y="3225800"/>
            <a:ext cx="6604000" cy="1473200"/>
          </a:xfrm>
          <a:prstGeom prst="roundRect">
            <a:avLst>
              <a:gd name="adj" fmla="val 8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9BCAC64-0318-24EC-EA33-6E1E9347809D}"/>
              </a:ext>
            </a:extLst>
          </p:cNvPr>
          <p:cNvSpPr/>
          <p:nvPr/>
        </p:nvSpPr>
        <p:spPr>
          <a:xfrm>
            <a:off x="1016000" y="3454400"/>
            <a:ext cx="406400" cy="4064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161B24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A3E17-7C71-3100-20EF-494109FE3DA1}"/>
              </a:ext>
            </a:extLst>
          </p:cNvPr>
          <p:cNvSpPr txBox="1"/>
          <p:nvPr/>
        </p:nvSpPr>
        <p:spPr>
          <a:xfrm>
            <a:off x="1016000" y="3962400"/>
            <a:ext cx="190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AI (Behavior Tree)</a:t>
            </a:r>
            <a:endParaRPr lang="ko-KR" altLang="en-US" sz="1600" b="1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FEFD4-109C-A5F8-602B-CCD90834302B}"/>
              </a:ext>
            </a:extLst>
          </p:cNvPr>
          <p:cNvSpPr txBox="1"/>
          <p:nvPr/>
        </p:nvSpPr>
        <p:spPr>
          <a:xfrm>
            <a:off x="3111500" y="3454400"/>
            <a:ext cx="400050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BT_RR_AI / BB_RR_AI / AIController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BTS_RR_UpdateTarget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TargetActor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갱신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플레이어 감지 후 추적하는 행동 구조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47FFD45-4D28-938C-0285-01790274504B}"/>
              </a:ext>
            </a:extLst>
          </p:cNvPr>
          <p:cNvSpPr/>
          <p:nvPr/>
        </p:nvSpPr>
        <p:spPr>
          <a:xfrm>
            <a:off x="762000" y="4851400"/>
            <a:ext cx="6604000" cy="1422400"/>
          </a:xfrm>
          <a:prstGeom prst="roundRect">
            <a:avLst>
              <a:gd name="adj" fmla="val 8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875DFA0-EF17-8342-D7B1-2B6C7CB720B7}"/>
              </a:ext>
            </a:extLst>
          </p:cNvPr>
          <p:cNvSpPr/>
          <p:nvPr/>
        </p:nvSpPr>
        <p:spPr>
          <a:xfrm>
            <a:off x="1016000" y="5080000"/>
            <a:ext cx="406400" cy="4064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161B24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EA0BB-8CEF-0153-0703-B593693BBCAA}"/>
              </a:ext>
            </a:extLst>
          </p:cNvPr>
          <p:cNvSpPr txBox="1"/>
          <p:nvPr/>
        </p:nvSpPr>
        <p:spPr>
          <a:xfrm>
            <a:off x="1016000" y="5588000"/>
            <a:ext cx="190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Combat Logic</a:t>
            </a:r>
            <a:endParaRPr lang="ko-KR" altLang="en-US" sz="1600" b="1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9530B0-DB1C-BE78-BF93-643149F6CF01}"/>
              </a:ext>
            </a:extLst>
          </p:cNvPr>
          <p:cNvSpPr txBox="1"/>
          <p:nvPr/>
        </p:nvSpPr>
        <p:spPr>
          <a:xfrm>
            <a:off x="3111500" y="5080000"/>
            <a:ext cx="40005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Health / MaxHealth, AnyDamage,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사망 처리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사거리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쿨다운 기반 공격 루프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공격 몽타주 슬롯 분리로 교체 용이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2EA443F-0F54-3295-39A3-57C1DA6F379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600200"/>
            <a:ext cx="3810000" cy="2667000"/>
          </a:xfrm>
          <a:prstGeom prst="roundRect">
            <a:avLst>
              <a:gd name="adj" fmla="val 4000"/>
            </a:avLst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6B79B50-C5FC-FF86-C5DF-1D5660BDD2D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394200"/>
            <a:ext cx="3810000" cy="1879600"/>
          </a:xfrm>
          <a:prstGeom prst="roundRect">
            <a:avLst>
              <a:gd name="adj" fmla="val 4000"/>
            </a:avLst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18EDBA3-B3E5-11C7-69CE-3A3DCC46FE5E}"/>
              </a:ext>
            </a:extLst>
          </p:cNvPr>
          <p:cNvSpPr txBox="1"/>
          <p:nvPr/>
        </p:nvSpPr>
        <p:spPr>
          <a:xfrm>
            <a:off x="762000" y="64516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|  Portfolio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BD03F5-89DE-4073-9207-899CB3A7CE8A}"/>
              </a:ext>
            </a:extLst>
          </p:cNvPr>
          <p:cNvSpPr txBox="1"/>
          <p:nvPr/>
        </p:nvSpPr>
        <p:spPr>
          <a:xfrm>
            <a:off x="10668000" y="64516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08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3340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778A76D2-54FF-6E42-1C2D-80401D9BC107}"/>
              </a:ext>
            </a:extLst>
          </p:cNvPr>
          <p:cNvSpPr/>
          <p:nvPr/>
        </p:nvSpPr>
        <p:spPr>
          <a:xfrm>
            <a:off x="0" y="0"/>
            <a:ext cx="1549401" cy="812801"/>
          </a:xfrm>
          <a:custGeom>
            <a:avLst/>
            <a:gdLst/>
            <a:ahLst/>
            <a:cxnLst/>
            <a:rect l="0" t="0" r="0" b="0"/>
            <a:pathLst>
              <a:path w="1549401" h="812801">
                <a:moveTo>
                  <a:pt x="0" y="0"/>
                </a:moveTo>
                <a:lnTo>
                  <a:pt x="736600" y="0"/>
                </a:lnTo>
                <a:lnTo>
                  <a:pt x="1549400" y="812800"/>
                </a:lnTo>
                <a:lnTo>
                  <a:pt x="812800" y="81280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3852DF14-C5A2-7155-79C4-EA7B9EFE838E}"/>
              </a:ext>
            </a:extLst>
          </p:cNvPr>
          <p:cNvSpPr/>
          <p:nvPr/>
        </p:nvSpPr>
        <p:spPr>
          <a:xfrm>
            <a:off x="0" y="381000"/>
            <a:ext cx="431801" cy="431801"/>
          </a:xfrm>
          <a:custGeom>
            <a:avLst/>
            <a:gdLst/>
            <a:ahLst/>
            <a:cxnLst/>
            <a:rect l="0" t="0" r="0" b="0"/>
            <a:pathLst>
              <a:path w="431801" h="431801">
                <a:moveTo>
                  <a:pt x="0" y="0"/>
                </a:moveTo>
                <a:lnTo>
                  <a:pt x="431800" y="431800"/>
                </a:lnTo>
                <a:lnTo>
                  <a:pt x="0" y="43180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702C9-27FB-7C8B-87C9-21BC77C23E42}"/>
              </a:ext>
            </a:extLst>
          </p:cNvPr>
          <p:cNvSpPr txBox="1"/>
          <p:nvPr/>
        </p:nvSpPr>
        <p:spPr>
          <a:xfrm>
            <a:off x="1905000" y="431800"/>
            <a:ext cx="889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Arena Level</a:t>
            </a:r>
            <a:endParaRPr lang="ko-KR" altLang="en-US" sz="3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C396E-37D4-C671-24BD-B68BA29339C2}"/>
              </a:ext>
            </a:extLst>
          </p:cNvPr>
          <p:cNvSpPr txBox="1"/>
          <p:nvPr/>
        </p:nvSpPr>
        <p:spPr>
          <a:xfrm>
            <a:off x="1905000" y="1066800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몬스터헌터 월드 아레나 맵을 </a:t>
            </a:r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UE5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이식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F2A8644-6D65-610E-A349-7BF0D8A31E07}"/>
              </a:ext>
            </a:extLst>
          </p:cNvPr>
          <p:cNvSpPr/>
          <p:nvPr/>
        </p:nvSpPr>
        <p:spPr>
          <a:xfrm>
            <a:off x="762000" y="1651000"/>
            <a:ext cx="5969000" cy="736600"/>
          </a:xfrm>
          <a:prstGeom prst="roundRect">
            <a:avLst>
              <a:gd name="adj" fmla="val 12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B7E13-5297-FC4A-F177-903DAE83C685}"/>
              </a:ext>
            </a:extLst>
          </p:cNvPr>
          <p:cNvSpPr txBox="1"/>
          <p:nvPr/>
        </p:nvSpPr>
        <p:spPr>
          <a:xfrm>
            <a:off x="1016000" y="1651000"/>
            <a:ext cx="1524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Import</a:t>
            </a:r>
            <a:endParaRPr lang="ko-KR" altLang="en-US" sz="16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48A7E-C342-5C99-A367-109BE1D75DBC}"/>
              </a:ext>
            </a:extLst>
          </p:cNvPr>
          <p:cNvSpPr txBox="1"/>
          <p:nvPr/>
        </p:nvSpPr>
        <p:spPr>
          <a:xfrm>
            <a:off x="2667000" y="1651000"/>
            <a:ext cx="3937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외부 맵 메시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텍스처를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UE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임포트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69E6728-A5EA-EB73-C16A-A809B260856E}"/>
              </a:ext>
            </a:extLst>
          </p:cNvPr>
          <p:cNvSpPr/>
          <p:nvPr/>
        </p:nvSpPr>
        <p:spPr>
          <a:xfrm>
            <a:off x="762000" y="2514600"/>
            <a:ext cx="5969000" cy="736600"/>
          </a:xfrm>
          <a:prstGeom prst="roundRect">
            <a:avLst>
              <a:gd name="adj" fmla="val 12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261BCA-D749-2C7C-8BA1-EA07558C5332}"/>
              </a:ext>
            </a:extLst>
          </p:cNvPr>
          <p:cNvSpPr txBox="1"/>
          <p:nvPr/>
        </p:nvSpPr>
        <p:spPr>
          <a:xfrm>
            <a:off x="1016000" y="2514600"/>
            <a:ext cx="1524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Material</a:t>
            </a:r>
            <a:endParaRPr lang="ko-KR" altLang="en-US" sz="16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7DCC55-DE37-6434-B662-18FFF717EFE9}"/>
              </a:ext>
            </a:extLst>
          </p:cNvPr>
          <p:cNvSpPr txBox="1"/>
          <p:nvPr/>
        </p:nvSpPr>
        <p:spPr>
          <a:xfrm>
            <a:off x="2667000" y="2514600"/>
            <a:ext cx="3937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apply_arena_materials.py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머티리얼 일괄 적용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57132C7-058E-CE7F-9978-749ABC7E3489}"/>
              </a:ext>
            </a:extLst>
          </p:cNvPr>
          <p:cNvSpPr/>
          <p:nvPr/>
        </p:nvSpPr>
        <p:spPr>
          <a:xfrm>
            <a:off x="762000" y="3378200"/>
            <a:ext cx="5969000" cy="736600"/>
          </a:xfrm>
          <a:prstGeom prst="roundRect">
            <a:avLst>
              <a:gd name="adj" fmla="val 12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4AB42E-583B-C0FC-516B-A21C63CD0150}"/>
              </a:ext>
            </a:extLst>
          </p:cNvPr>
          <p:cNvSpPr txBox="1"/>
          <p:nvPr/>
        </p:nvSpPr>
        <p:spPr>
          <a:xfrm>
            <a:off x="1016000" y="3378200"/>
            <a:ext cx="1524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Collision</a:t>
            </a:r>
            <a:endParaRPr lang="ko-KR" altLang="en-US" sz="16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742D4-D24E-319D-3608-18137CDBCD25}"/>
              </a:ext>
            </a:extLst>
          </p:cNvPr>
          <p:cNvSpPr txBox="1"/>
          <p:nvPr/>
        </p:nvSpPr>
        <p:spPr>
          <a:xfrm>
            <a:off x="2667000" y="3378200"/>
            <a:ext cx="3937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apply_level_collision.py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레벨 콜리전 일괄 구성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3E944E5-BE3F-3108-96FE-21C1AB27E3F7}"/>
              </a:ext>
            </a:extLst>
          </p:cNvPr>
          <p:cNvSpPr/>
          <p:nvPr/>
        </p:nvSpPr>
        <p:spPr>
          <a:xfrm>
            <a:off x="762000" y="4241800"/>
            <a:ext cx="5969000" cy="736600"/>
          </a:xfrm>
          <a:prstGeom prst="roundRect">
            <a:avLst>
              <a:gd name="adj" fmla="val 12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8AE2D6-9256-170A-5C47-6EDD608D2D04}"/>
              </a:ext>
            </a:extLst>
          </p:cNvPr>
          <p:cNvSpPr txBox="1"/>
          <p:nvPr/>
        </p:nvSpPr>
        <p:spPr>
          <a:xfrm>
            <a:off x="1016000" y="4241800"/>
            <a:ext cx="1524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NavMesh</a:t>
            </a:r>
            <a:endParaRPr lang="ko-KR" altLang="en-US" sz="16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572930-AC00-4EDE-5C40-4629A8A1921E}"/>
              </a:ext>
            </a:extLst>
          </p:cNvPr>
          <p:cNvSpPr txBox="1"/>
          <p:nvPr/>
        </p:nvSpPr>
        <p:spPr>
          <a:xfrm>
            <a:off x="2667000" y="4241800"/>
            <a:ext cx="3937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몬스터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AI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이동을 위한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NavMesh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구성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F1F65BF-7675-FFB6-DE93-AAE48FC815C9}"/>
              </a:ext>
            </a:extLst>
          </p:cNvPr>
          <p:cNvSpPr/>
          <p:nvPr/>
        </p:nvSpPr>
        <p:spPr>
          <a:xfrm>
            <a:off x="762000" y="5105400"/>
            <a:ext cx="5969000" cy="736600"/>
          </a:xfrm>
          <a:prstGeom prst="roundRect">
            <a:avLst>
              <a:gd name="adj" fmla="val 12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4CAAC9-3D47-A706-5DF8-67C105A02228}"/>
              </a:ext>
            </a:extLst>
          </p:cNvPr>
          <p:cNvSpPr txBox="1"/>
          <p:nvPr/>
        </p:nvSpPr>
        <p:spPr>
          <a:xfrm>
            <a:off x="1016000" y="5105400"/>
            <a:ext cx="1524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Lighting</a:t>
            </a:r>
            <a:endParaRPr lang="ko-KR" altLang="en-US" sz="16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2D1B6F-69BB-551F-27ED-06F1E1EE95E8}"/>
              </a:ext>
            </a:extLst>
          </p:cNvPr>
          <p:cNvSpPr txBox="1"/>
          <p:nvPr/>
        </p:nvSpPr>
        <p:spPr>
          <a:xfrm>
            <a:off x="2667000" y="5105400"/>
            <a:ext cx="3937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Lumen Scene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크기를 확대해 대형 맵 </a:t>
            </a:r>
            <a:r>
              <a:rPr lang="en-US" altLang="ko-KR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GI </a:t>
            </a:r>
            <a:r>
              <a:rPr lang="ko-KR" altLang="en-US" sz="1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품질 확보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7ACFF9E-8FAE-9C3B-77D1-D15F017B6C8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1651000"/>
            <a:ext cx="4445000" cy="4165600"/>
          </a:xfrm>
          <a:prstGeom prst="roundRect">
            <a:avLst>
              <a:gd name="adj" fmla="val 4000"/>
            </a:avLst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4928C47-93AB-4369-0B89-664C43298701}"/>
              </a:ext>
            </a:extLst>
          </p:cNvPr>
          <p:cNvSpPr txBox="1"/>
          <p:nvPr/>
        </p:nvSpPr>
        <p:spPr>
          <a:xfrm>
            <a:off x="762000" y="64516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|  Portfolio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3589A0-270E-909C-0248-FBEEB982BBFE}"/>
              </a:ext>
            </a:extLst>
          </p:cNvPr>
          <p:cNvSpPr txBox="1"/>
          <p:nvPr/>
        </p:nvSpPr>
        <p:spPr>
          <a:xfrm>
            <a:off x="10668000" y="64516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09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6300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30850096-F3D2-F87B-488B-43BB5A7A83E9}"/>
              </a:ext>
            </a:extLst>
          </p:cNvPr>
          <p:cNvSpPr/>
          <p:nvPr/>
        </p:nvSpPr>
        <p:spPr>
          <a:xfrm>
            <a:off x="0" y="0"/>
            <a:ext cx="1549401" cy="812801"/>
          </a:xfrm>
          <a:custGeom>
            <a:avLst/>
            <a:gdLst/>
            <a:ahLst/>
            <a:cxnLst/>
            <a:rect l="0" t="0" r="0" b="0"/>
            <a:pathLst>
              <a:path w="1549401" h="812801">
                <a:moveTo>
                  <a:pt x="0" y="0"/>
                </a:moveTo>
                <a:lnTo>
                  <a:pt x="736600" y="0"/>
                </a:lnTo>
                <a:lnTo>
                  <a:pt x="1549400" y="812800"/>
                </a:lnTo>
                <a:lnTo>
                  <a:pt x="812800" y="81280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1AC43821-33E7-91B4-24D3-E461231378E8}"/>
              </a:ext>
            </a:extLst>
          </p:cNvPr>
          <p:cNvSpPr/>
          <p:nvPr/>
        </p:nvSpPr>
        <p:spPr>
          <a:xfrm>
            <a:off x="0" y="381000"/>
            <a:ext cx="431801" cy="431801"/>
          </a:xfrm>
          <a:custGeom>
            <a:avLst/>
            <a:gdLst/>
            <a:ahLst/>
            <a:cxnLst/>
            <a:rect l="0" t="0" r="0" b="0"/>
            <a:pathLst>
              <a:path w="431801" h="431801">
                <a:moveTo>
                  <a:pt x="0" y="0"/>
                </a:moveTo>
                <a:lnTo>
                  <a:pt x="431800" y="431800"/>
                </a:lnTo>
                <a:lnTo>
                  <a:pt x="0" y="43180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6BB06-3A23-343E-C4BC-B9DC7EC31CC4}"/>
              </a:ext>
            </a:extLst>
          </p:cNvPr>
          <p:cNvSpPr txBox="1"/>
          <p:nvPr/>
        </p:nvSpPr>
        <p:spPr>
          <a:xfrm>
            <a:off x="1905000" y="431800"/>
            <a:ext cx="889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Asset Import Pipeline</a:t>
            </a:r>
            <a:endParaRPr lang="ko-KR" altLang="en-US" sz="3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F5FB2-2E45-6291-E852-BA329E03BEF7}"/>
              </a:ext>
            </a:extLst>
          </p:cNvPr>
          <p:cNvSpPr txBox="1"/>
          <p:nvPr/>
        </p:nvSpPr>
        <p:spPr>
          <a:xfrm>
            <a:off x="1905000" y="1066800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게임 리소스를 </a:t>
            </a:r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Blender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거쳐 </a:t>
            </a:r>
            <a:r>
              <a:rPr lang="en-US" altLang="ko-KR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UE5</a:t>
            </a:r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가져온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E157D-A496-447A-015E-CC0A05554212}"/>
              </a:ext>
            </a:extLst>
          </p:cNvPr>
          <p:cNvSpPr txBox="1"/>
          <p:nvPr/>
        </p:nvSpPr>
        <p:spPr>
          <a:xfrm>
            <a:off x="762000" y="1625600"/>
            <a:ext cx="508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ARENA LEVEL</a:t>
            </a:r>
            <a:endParaRPr lang="ko-KR" altLang="en-US" sz="12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7761AD2-32AF-08A5-4BD2-8E89F4A61CCA}"/>
              </a:ext>
            </a:extLst>
          </p:cNvPr>
          <p:cNvSpPr/>
          <p:nvPr/>
        </p:nvSpPr>
        <p:spPr>
          <a:xfrm>
            <a:off x="762000" y="1981200"/>
            <a:ext cx="1981200" cy="1574800"/>
          </a:xfrm>
          <a:prstGeom prst="roundRect">
            <a:avLst>
              <a:gd name="adj" fmla="val 6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71EE459-F0DE-F890-FF72-FF18437004EA}"/>
              </a:ext>
            </a:extLst>
          </p:cNvPr>
          <p:cNvSpPr/>
          <p:nvPr/>
        </p:nvSpPr>
        <p:spPr>
          <a:xfrm>
            <a:off x="939800" y="2159000"/>
            <a:ext cx="330200" cy="3302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161B24"/>
                </a:solidFill>
                <a:latin typeface="Malgun Gothic" panose="020B0503020000020004" pitchFamily="50" charset="-127"/>
              </a:rPr>
              <a:t>1</a:t>
            </a:r>
            <a:endParaRPr lang="ko-KR" altLang="en-US" sz="12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6390A4-3277-5E82-A9EF-CB04CDC5B468}"/>
              </a:ext>
            </a:extLst>
          </p:cNvPr>
          <p:cNvSpPr txBox="1"/>
          <p:nvPr/>
        </p:nvSpPr>
        <p:spPr>
          <a:xfrm>
            <a:off x="939800" y="2590800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리소스 추출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408AB-C8A2-F811-0CED-551F65E0D2B3}"/>
              </a:ext>
            </a:extLst>
          </p:cNvPr>
          <p:cNvSpPr txBox="1"/>
          <p:nvPr/>
        </p:nvSpPr>
        <p:spPr>
          <a:xfrm>
            <a:off x="939800" y="2895600"/>
            <a:ext cx="1651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맵 메시와 텍스처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(.tex → PNG)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87B7D26-061D-2186-2B4C-4BD9C21FEE7A}"/>
              </a:ext>
            </a:extLst>
          </p:cNvPr>
          <p:cNvSpPr/>
          <p:nvPr/>
        </p:nvSpPr>
        <p:spPr>
          <a:xfrm>
            <a:off x="2933700" y="1981200"/>
            <a:ext cx="1981200" cy="1574800"/>
          </a:xfrm>
          <a:prstGeom prst="roundRect">
            <a:avLst>
              <a:gd name="adj" fmla="val 6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E92C029-CF66-7F7E-5980-AB46C2B8D6D3}"/>
              </a:ext>
            </a:extLst>
          </p:cNvPr>
          <p:cNvSpPr/>
          <p:nvPr/>
        </p:nvSpPr>
        <p:spPr>
          <a:xfrm>
            <a:off x="3111500" y="2159000"/>
            <a:ext cx="330200" cy="3302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161B24"/>
                </a:solidFill>
                <a:latin typeface="Malgun Gothic" panose="020B0503020000020004" pitchFamily="50" charset="-127"/>
              </a:rPr>
              <a:t>2</a:t>
            </a:r>
            <a:endParaRPr lang="ko-KR" altLang="en-US" sz="12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AB829D-9F59-DD8B-EC3D-A1F367A8719B}"/>
              </a:ext>
            </a:extLst>
          </p:cNvPr>
          <p:cNvSpPr txBox="1"/>
          <p:nvPr/>
        </p:nvSpPr>
        <p:spPr>
          <a:xfrm>
            <a:off x="3111500" y="2590800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Blender </a:t>
            </a:r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1AFA0-B10C-EF94-E68C-FA7AE0B907AC}"/>
              </a:ext>
            </a:extLst>
          </p:cNvPr>
          <p:cNvSpPr txBox="1"/>
          <p:nvPr/>
        </p:nvSpPr>
        <p:spPr>
          <a:xfrm>
            <a:off x="3111500" y="2895600"/>
            <a:ext cx="1651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머티리얼별 텍스처 연결 정보를 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JSON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저장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B3056D-BC5C-6A45-053F-DFD9196E26F8}"/>
              </a:ext>
            </a:extLst>
          </p:cNvPr>
          <p:cNvSpPr/>
          <p:nvPr/>
        </p:nvSpPr>
        <p:spPr>
          <a:xfrm>
            <a:off x="5105400" y="1981200"/>
            <a:ext cx="1981200" cy="1574800"/>
          </a:xfrm>
          <a:prstGeom prst="roundRect">
            <a:avLst>
              <a:gd name="adj" fmla="val 6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449EAEC-718F-D377-B408-97B71CB05ADD}"/>
              </a:ext>
            </a:extLst>
          </p:cNvPr>
          <p:cNvSpPr/>
          <p:nvPr/>
        </p:nvSpPr>
        <p:spPr>
          <a:xfrm>
            <a:off x="5283200" y="2159000"/>
            <a:ext cx="330200" cy="3302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161B24"/>
                </a:solidFill>
                <a:latin typeface="Malgun Gothic" panose="020B0503020000020004" pitchFamily="50" charset="-127"/>
              </a:rPr>
              <a:t>3</a:t>
            </a:r>
            <a:endParaRPr lang="ko-KR" altLang="en-US" sz="12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EDFBC2-1852-074D-E5CB-1683C9C6E6A2}"/>
              </a:ext>
            </a:extLst>
          </p:cNvPr>
          <p:cNvSpPr txBox="1"/>
          <p:nvPr/>
        </p:nvSpPr>
        <p:spPr>
          <a:xfrm>
            <a:off x="5283200" y="2590800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UE </a:t>
            </a:r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임포트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B836CB-4315-8D88-28FD-FCBD06D77DB4}"/>
              </a:ext>
            </a:extLst>
          </p:cNvPr>
          <p:cNvSpPr txBox="1"/>
          <p:nvPr/>
        </p:nvSpPr>
        <p:spPr>
          <a:xfrm>
            <a:off x="5283200" y="2895600"/>
            <a:ext cx="1651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메시 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텍스처를 프로젝트에 임포트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68514C7-886A-053A-9430-E8FD910095AA}"/>
              </a:ext>
            </a:extLst>
          </p:cNvPr>
          <p:cNvSpPr/>
          <p:nvPr/>
        </p:nvSpPr>
        <p:spPr>
          <a:xfrm>
            <a:off x="7277100" y="1981200"/>
            <a:ext cx="1981200" cy="1574800"/>
          </a:xfrm>
          <a:prstGeom prst="roundRect">
            <a:avLst>
              <a:gd name="adj" fmla="val 6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E247310-4538-6B35-69A3-7C02A5BE6FAA}"/>
              </a:ext>
            </a:extLst>
          </p:cNvPr>
          <p:cNvSpPr/>
          <p:nvPr/>
        </p:nvSpPr>
        <p:spPr>
          <a:xfrm>
            <a:off x="7454900" y="2159000"/>
            <a:ext cx="330200" cy="3302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161B24"/>
                </a:solidFill>
                <a:latin typeface="Malgun Gothic" panose="020B0503020000020004" pitchFamily="50" charset="-127"/>
              </a:rPr>
              <a:t>4</a:t>
            </a:r>
            <a:endParaRPr lang="ko-KR" altLang="en-US" sz="12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F7F104-6A38-4027-F8E0-15CD8483D02E}"/>
              </a:ext>
            </a:extLst>
          </p:cNvPr>
          <p:cNvSpPr txBox="1"/>
          <p:nvPr/>
        </p:nvSpPr>
        <p:spPr>
          <a:xfrm>
            <a:off x="7454900" y="2590800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머티리얼 자동 적용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E4076F-040B-F1E1-C79A-170CDDAFB198}"/>
              </a:ext>
            </a:extLst>
          </p:cNvPr>
          <p:cNvSpPr txBox="1"/>
          <p:nvPr/>
        </p:nvSpPr>
        <p:spPr>
          <a:xfrm>
            <a:off x="7454900" y="2895600"/>
            <a:ext cx="1651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마스터 머티리얼로 인스턴스 생성 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텍스처 연결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4FE642-5903-E736-BB55-7C2588BBE930}"/>
              </a:ext>
            </a:extLst>
          </p:cNvPr>
          <p:cNvSpPr/>
          <p:nvPr/>
        </p:nvSpPr>
        <p:spPr>
          <a:xfrm>
            <a:off x="9448800" y="1981200"/>
            <a:ext cx="1981200" cy="1574800"/>
          </a:xfrm>
          <a:prstGeom prst="roundRect">
            <a:avLst>
              <a:gd name="adj" fmla="val 6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D0BF67B-78BD-F17E-E39B-D236B0FF27AE}"/>
              </a:ext>
            </a:extLst>
          </p:cNvPr>
          <p:cNvSpPr/>
          <p:nvPr/>
        </p:nvSpPr>
        <p:spPr>
          <a:xfrm>
            <a:off x="9626600" y="2159000"/>
            <a:ext cx="330200" cy="3302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161B24"/>
                </a:solidFill>
                <a:latin typeface="Malgun Gothic" panose="020B0503020000020004" pitchFamily="50" charset="-127"/>
              </a:rPr>
              <a:t>5</a:t>
            </a:r>
            <a:endParaRPr lang="ko-KR" altLang="en-US" sz="12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6B4900-A03E-94A3-4D3E-A2DAABE77DB2}"/>
              </a:ext>
            </a:extLst>
          </p:cNvPr>
          <p:cNvSpPr txBox="1"/>
          <p:nvPr/>
        </p:nvSpPr>
        <p:spPr>
          <a:xfrm>
            <a:off x="9626600" y="2590800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Collision · NavMesh</a:t>
            </a:r>
            <a:endParaRPr lang="ko-KR" altLang="en-US" sz="1300" b="1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43572E-D318-5AB2-4C1E-7A17247269A7}"/>
              </a:ext>
            </a:extLst>
          </p:cNvPr>
          <p:cNvSpPr txBox="1"/>
          <p:nvPr/>
        </p:nvSpPr>
        <p:spPr>
          <a:xfrm>
            <a:off x="9626600" y="2895600"/>
            <a:ext cx="1651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Complex as Simple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설정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NavMesh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생성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24D45D-2645-09ED-0A90-521D7CDF799A}"/>
              </a:ext>
            </a:extLst>
          </p:cNvPr>
          <p:cNvSpPr txBox="1"/>
          <p:nvPr/>
        </p:nvSpPr>
        <p:spPr>
          <a:xfrm>
            <a:off x="762000" y="3886200"/>
            <a:ext cx="508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CHARACTER &amp; ANIMATION</a:t>
            </a:r>
            <a:endParaRPr lang="ko-KR" altLang="en-US" sz="1200" b="1">
              <a:solidFill>
                <a:srgbClr val="7FD6B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4FC807B-9489-E909-75A9-F681520CDB4D}"/>
              </a:ext>
            </a:extLst>
          </p:cNvPr>
          <p:cNvSpPr/>
          <p:nvPr/>
        </p:nvSpPr>
        <p:spPr>
          <a:xfrm>
            <a:off x="762000" y="4241800"/>
            <a:ext cx="1981200" cy="1574800"/>
          </a:xfrm>
          <a:prstGeom prst="roundRect">
            <a:avLst>
              <a:gd name="adj" fmla="val 6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531F16B-2479-106C-936F-1C950944B20A}"/>
              </a:ext>
            </a:extLst>
          </p:cNvPr>
          <p:cNvSpPr/>
          <p:nvPr/>
        </p:nvSpPr>
        <p:spPr>
          <a:xfrm>
            <a:off x="939800" y="4419600"/>
            <a:ext cx="330200" cy="3302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161B24"/>
                </a:solidFill>
                <a:latin typeface="Malgun Gothic" panose="020B0503020000020004" pitchFamily="50" charset="-127"/>
              </a:rPr>
              <a:t>1</a:t>
            </a:r>
            <a:endParaRPr lang="ko-KR" altLang="en-US" sz="12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5AC72C-AD93-FD8D-169E-43473E605755}"/>
              </a:ext>
            </a:extLst>
          </p:cNvPr>
          <p:cNvSpPr txBox="1"/>
          <p:nvPr/>
        </p:nvSpPr>
        <p:spPr>
          <a:xfrm>
            <a:off x="939800" y="4851400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모델 </a:t>
            </a:r>
            <a:r>
              <a:rPr lang="en-US" altLang="ko-KR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애니 추출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01A40B-E9E9-7B41-F91F-0DA544C39EC2}"/>
              </a:ext>
            </a:extLst>
          </p:cNvPr>
          <p:cNvSpPr txBox="1"/>
          <p:nvPr/>
        </p:nvSpPr>
        <p:spPr>
          <a:xfrm>
            <a:off x="939800" y="5156200"/>
            <a:ext cx="1651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헌터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대검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리오레이아 모델과 애니메이션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D783B57-046F-DFB7-AA7D-347503C02E05}"/>
              </a:ext>
            </a:extLst>
          </p:cNvPr>
          <p:cNvSpPr/>
          <p:nvPr/>
        </p:nvSpPr>
        <p:spPr>
          <a:xfrm>
            <a:off x="2933700" y="4241800"/>
            <a:ext cx="1981200" cy="1574800"/>
          </a:xfrm>
          <a:prstGeom prst="roundRect">
            <a:avLst>
              <a:gd name="adj" fmla="val 6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ABB6D62E-B877-E8FA-0102-BCE4DBCD0C98}"/>
              </a:ext>
            </a:extLst>
          </p:cNvPr>
          <p:cNvSpPr/>
          <p:nvPr/>
        </p:nvSpPr>
        <p:spPr>
          <a:xfrm>
            <a:off x="3111500" y="4419600"/>
            <a:ext cx="330200" cy="3302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161B24"/>
                </a:solidFill>
                <a:latin typeface="Malgun Gothic" panose="020B0503020000020004" pitchFamily="50" charset="-127"/>
              </a:rPr>
              <a:t>2</a:t>
            </a:r>
            <a:endParaRPr lang="ko-KR" altLang="en-US" sz="12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CD97EE-E7A4-ED64-D28C-1536D999BFFA}"/>
              </a:ext>
            </a:extLst>
          </p:cNvPr>
          <p:cNvSpPr txBox="1"/>
          <p:nvPr/>
        </p:nvSpPr>
        <p:spPr>
          <a:xfrm>
            <a:off x="3111500" y="4851400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Blender </a:t>
            </a:r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A7F0B4-1B3C-E731-8C9B-D1C0C39D9C64}"/>
              </a:ext>
            </a:extLst>
          </p:cNvPr>
          <p:cNvSpPr txBox="1"/>
          <p:nvPr/>
        </p:nvSpPr>
        <p:spPr>
          <a:xfrm>
            <a:off x="3111500" y="5156200"/>
            <a:ext cx="1651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Armature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확인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애니메이션별 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FBX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43C7E08-F0F5-0D3D-ECF7-EE7E32E0F00F}"/>
              </a:ext>
            </a:extLst>
          </p:cNvPr>
          <p:cNvSpPr/>
          <p:nvPr/>
        </p:nvSpPr>
        <p:spPr>
          <a:xfrm>
            <a:off x="5105400" y="4241800"/>
            <a:ext cx="1981200" cy="1574800"/>
          </a:xfrm>
          <a:prstGeom prst="roundRect">
            <a:avLst>
              <a:gd name="adj" fmla="val 6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638A1FB-70C6-D129-913D-B8CC105AA68C}"/>
              </a:ext>
            </a:extLst>
          </p:cNvPr>
          <p:cNvSpPr/>
          <p:nvPr/>
        </p:nvSpPr>
        <p:spPr>
          <a:xfrm>
            <a:off x="5283200" y="4419600"/>
            <a:ext cx="330200" cy="3302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161B24"/>
                </a:solidFill>
                <a:latin typeface="Malgun Gothic" panose="020B0503020000020004" pitchFamily="50" charset="-127"/>
              </a:rPr>
              <a:t>3</a:t>
            </a:r>
            <a:endParaRPr lang="ko-KR" altLang="en-US" sz="12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E04F88-73E8-9437-06E1-59E9B7BCAE09}"/>
              </a:ext>
            </a:extLst>
          </p:cNvPr>
          <p:cNvSpPr txBox="1"/>
          <p:nvPr/>
        </p:nvSpPr>
        <p:spPr>
          <a:xfrm>
            <a:off x="5283200" y="4851400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InPlace </a:t>
            </a:r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변환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B857EB-4D51-A3F4-2AF5-09B990EFC040}"/>
              </a:ext>
            </a:extLst>
          </p:cNvPr>
          <p:cNvSpPr txBox="1"/>
          <p:nvPr/>
        </p:nvSpPr>
        <p:spPr>
          <a:xfrm>
            <a:off x="5283200" y="5156200"/>
            <a:ext cx="1651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루트 이동을 제거한 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InPlace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버전 제작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D17EB8E-87B8-D223-7216-ECA8BC1F4094}"/>
              </a:ext>
            </a:extLst>
          </p:cNvPr>
          <p:cNvSpPr/>
          <p:nvPr/>
        </p:nvSpPr>
        <p:spPr>
          <a:xfrm>
            <a:off x="7277100" y="4241800"/>
            <a:ext cx="1981200" cy="1574800"/>
          </a:xfrm>
          <a:prstGeom prst="roundRect">
            <a:avLst>
              <a:gd name="adj" fmla="val 6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E2CFCEF-F798-DF67-7A43-577180CE8E86}"/>
              </a:ext>
            </a:extLst>
          </p:cNvPr>
          <p:cNvSpPr/>
          <p:nvPr/>
        </p:nvSpPr>
        <p:spPr>
          <a:xfrm>
            <a:off x="7454900" y="4419600"/>
            <a:ext cx="330200" cy="3302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161B24"/>
                </a:solidFill>
                <a:latin typeface="Malgun Gothic" panose="020B0503020000020004" pitchFamily="50" charset="-127"/>
              </a:rPr>
              <a:t>4</a:t>
            </a:r>
            <a:endParaRPr lang="ko-KR" altLang="en-US" sz="12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F75453-6B64-4D30-4DEB-D10B8DA0A735}"/>
              </a:ext>
            </a:extLst>
          </p:cNvPr>
          <p:cNvSpPr txBox="1"/>
          <p:nvPr/>
        </p:nvSpPr>
        <p:spPr>
          <a:xfrm>
            <a:off x="7454900" y="4851400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UE </a:t>
            </a:r>
            <a:r>
              <a:rPr lang="ko-KR" altLang="en-US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임포트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A292D9-D4AC-D9B6-459F-0A3856822367}"/>
              </a:ext>
            </a:extLst>
          </p:cNvPr>
          <p:cNvSpPr txBox="1"/>
          <p:nvPr/>
        </p:nvSpPr>
        <p:spPr>
          <a:xfrm>
            <a:off x="7454900" y="5156200"/>
            <a:ext cx="1651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스켈레탈 메시 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시퀀스 임포트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축 </a:t>
            </a:r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높이 보정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9F9F60F-DD11-F16D-BB80-A3F8B0CF055B}"/>
              </a:ext>
            </a:extLst>
          </p:cNvPr>
          <p:cNvSpPr/>
          <p:nvPr/>
        </p:nvSpPr>
        <p:spPr>
          <a:xfrm>
            <a:off x="9448800" y="4241800"/>
            <a:ext cx="1981200" cy="1574800"/>
          </a:xfrm>
          <a:prstGeom prst="roundRect">
            <a:avLst>
              <a:gd name="adj" fmla="val 6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4B832E6-B796-763E-0E7B-ACC8D4FABF5C}"/>
              </a:ext>
            </a:extLst>
          </p:cNvPr>
          <p:cNvSpPr/>
          <p:nvPr/>
        </p:nvSpPr>
        <p:spPr>
          <a:xfrm>
            <a:off x="9626600" y="4419600"/>
            <a:ext cx="330200" cy="330200"/>
          </a:xfrm>
          <a:prstGeom prst="ellipse">
            <a:avLst/>
          </a:pr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rgbClr val="161B24"/>
                </a:solidFill>
                <a:latin typeface="Malgun Gothic" panose="020B0503020000020004" pitchFamily="50" charset="-127"/>
              </a:rPr>
              <a:t>5</a:t>
            </a:r>
            <a:endParaRPr lang="ko-KR" altLang="en-US" sz="1200" b="1">
              <a:solidFill>
                <a:srgbClr val="161B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797975-D5A9-6FF3-1D0A-54087B1E57D9}"/>
              </a:ext>
            </a:extLst>
          </p:cNvPr>
          <p:cNvSpPr txBox="1"/>
          <p:nvPr/>
        </p:nvSpPr>
        <p:spPr>
          <a:xfrm>
            <a:off x="9626600" y="4851400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Montage · ABP</a:t>
            </a:r>
            <a:endParaRPr lang="ko-KR" altLang="en-US" sz="1300" b="1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6FF416-C604-4E25-1D49-9104E8FC04CA}"/>
              </a:ext>
            </a:extLst>
          </p:cNvPr>
          <p:cNvSpPr txBox="1"/>
          <p:nvPr/>
        </p:nvSpPr>
        <p:spPr>
          <a:xfrm>
            <a:off x="9626600" y="5156200"/>
            <a:ext cx="1651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Montage, Blend Space, Anim Blueprint </a:t>
            </a:r>
            <a:r>
              <a:rPr lang="ko-KR" altLang="en-US" sz="11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구성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F25472-3ECA-F69C-554F-48F3978B619C}"/>
              </a:ext>
            </a:extLst>
          </p:cNvPr>
          <p:cNvSpPr txBox="1"/>
          <p:nvPr/>
        </p:nvSpPr>
        <p:spPr>
          <a:xfrm>
            <a:off x="762000" y="64516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|  Portfolio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F03315-693E-C3C7-D4B6-6E0DB7279E9D}"/>
              </a:ext>
            </a:extLst>
          </p:cNvPr>
          <p:cNvSpPr txBox="1"/>
          <p:nvPr/>
        </p:nvSpPr>
        <p:spPr>
          <a:xfrm>
            <a:off x="10668000" y="64516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6135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85A91246-1047-EF04-195D-66F25E5E2269}"/>
              </a:ext>
            </a:extLst>
          </p:cNvPr>
          <p:cNvSpPr/>
          <p:nvPr/>
        </p:nvSpPr>
        <p:spPr>
          <a:xfrm>
            <a:off x="0" y="0"/>
            <a:ext cx="1549401" cy="812801"/>
          </a:xfrm>
          <a:custGeom>
            <a:avLst/>
            <a:gdLst/>
            <a:ahLst/>
            <a:cxnLst/>
            <a:rect l="0" t="0" r="0" b="0"/>
            <a:pathLst>
              <a:path w="1549401" h="812801">
                <a:moveTo>
                  <a:pt x="0" y="0"/>
                </a:moveTo>
                <a:lnTo>
                  <a:pt x="736600" y="0"/>
                </a:lnTo>
                <a:lnTo>
                  <a:pt x="1549400" y="812800"/>
                </a:lnTo>
                <a:lnTo>
                  <a:pt x="812800" y="81280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95CC048-E7A0-09DD-8625-EA155A6119B3}"/>
              </a:ext>
            </a:extLst>
          </p:cNvPr>
          <p:cNvSpPr/>
          <p:nvPr/>
        </p:nvSpPr>
        <p:spPr>
          <a:xfrm>
            <a:off x="0" y="381000"/>
            <a:ext cx="431801" cy="431801"/>
          </a:xfrm>
          <a:custGeom>
            <a:avLst/>
            <a:gdLst/>
            <a:ahLst/>
            <a:cxnLst/>
            <a:rect l="0" t="0" r="0" b="0"/>
            <a:pathLst>
              <a:path w="431801" h="431801">
                <a:moveTo>
                  <a:pt x="0" y="0"/>
                </a:moveTo>
                <a:lnTo>
                  <a:pt x="431800" y="431800"/>
                </a:lnTo>
                <a:lnTo>
                  <a:pt x="0" y="43180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77C6A-6510-D48B-28EE-0AE5C82BF380}"/>
              </a:ext>
            </a:extLst>
          </p:cNvPr>
          <p:cNvSpPr txBox="1"/>
          <p:nvPr/>
        </p:nvSpPr>
        <p:spPr>
          <a:xfrm>
            <a:off x="1905000" y="431800"/>
            <a:ext cx="889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32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Improvements &amp; Next Steps</a:t>
            </a:r>
            <a:endParaRPr lang="ko-KR" altLang="en-US" sz="32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F01F6-E5C0-8353-C3A9-AACB44D14B4E}"/>
              </a:ext>
            </a:extLst>
          </p:cNvPr>
          <p:cNvSpPr txBox="1"/>
          <p:nvPr/>
        </p:nvSpPr>
        <p:spPr>
          <a:xfrm>
            <a:off x="1905000" y="1066800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한계와 다음 개발 계획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22CF83E-3D00-0350-03E5-A1E23B683FB5}"/>
              </a:ext>
            </a:extLst>
          </p:cNvPr>
          <p:cNvSpPr/>
          <p:nvPr/>
        </p:nvSpPr>
        <p:spPr>
          <a:xfrm>
            <a:off x="762000" y="1905000"/>
            <a:ext cx="5207000" cy="3810000"/>
          </a:xfrm>
          <a:prstGeom prst="roundRect">
            <a:avLst>
              <a:gd name="adj" fmla="val 4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89DF13-50E2-F30C-B575-91C884AD79EA}"/>
              </a:ext>
            </a:extLst>
          </p:cNvPr>
          <p:cNvSpPr txBox="1"/>
          <p:nvPr/>
        </p:nvSpPr>
        <p:spPr>
          <a:xfrm>
            <a:off x="1117600" y="2184400"/>
            <a:ext cx="444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한계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B4833-934B-1CD3-165E-E2BB0B4478C2}"/>
              </a:ext>
            </a:extLst>
          </p:cNvPr>
          <p:cNvSpPr txBox="1"/>
          <p:nvPr/>
        </p:nvSpPr>
        <p:spPr>
          <a:xfrm>
            <a:off x="1117600" y="2717800"/>
            <a:ext cx="45212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타격 판정이 몽타주 전체 구간 동안 켜져 있음 </a:t>
            </a: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정확한 스윙 프레임과 불일치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몬스터 공격 몽타주 미할당 </a:t>
            </a: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데미지만 적용되는 플레이스홀더</a:t>
            </a: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</a:t>
            </a: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몬스터 피격 리액션 연출 부족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C2A4804-B10E-ABDE-8B71-B1FF69E53247}"/>
              </a:ext>
            </a:extLst>
          </p:cNvPr>
          <p:cNvSpPr/>
          <p:nvPr/>
        </p:nvSpPr>
        <p:spPr>
          <a:xfrm>
            <a:off x="6223000" y="1905000"/>
            <a:ext cx="5207000" cy="3810000"/>
          </a:xfrm>
          <a:prstGeom prst="roundRect">
            <a:avLst>
              <a:gd name="adj" fmla="val 4000"/>
            </a:avLst>
          </a:prstGeom>
          <a:solidFill>
            <a:srgbClr val="2128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57B376-F4B3-3DA8-2F8A-C02AAB26588F}"/>
              </a:ext>
            </a:extLst>
          </p:cNvPr>
          <p:cNvSpPr txBox="1"/>
          <p:nvPr/>
        </p:nvSpPr>
        <p:spPr>
          <a:xfrm>
            <a:off x="6578600" y="2184400"/>
            <a:ext cx="444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7FD6B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다음 계획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60EE0-50CE-5111-A354-63D06D6399A9}"/>
              </a:ext>
            </a:extLst>
          </p:cNvPr>
          <p:cNvSpPr txBox="1"/>
          <p:nvPr/>
        </p:nvSpPr>
        <p:spPr>
          <a:xfrm>
            <a:off x="6578600" y="2717800"/>
            <a:ext cx="45212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AnimNotifyState</a:t>
            </a: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</a:t>
            </a: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Hitbox </a:t>
            </a: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활성 구간을 프레임 단위로 제어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리오레이아 공격 패턴 및 </a:t>
            </a: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Behavior Tree </a:t>
            </a: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확장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피격 리액션 </a:t>
            </a: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넉백</a:t>
            </a: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체력 </a:t>
            </a: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스태미나 </a:t>
            </a:r>
            <a:r>
              <a:rPr lang="en-US" altLang="ko-KR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UI</a:t>
            </a:r>
          </a:p>
          <a:p>
            <a:pPr marL="177800" indent="-177800">
              <a:spcAft>
                <a:spcPts val="700"/>
              </a:spcAft>
              <a:buClr>
                <a:srgbClr val="7FD6B0"/>
              </a:buClr>
              <a:buFont typeface="+mj-lt"/>
              <a:buChar char="–"/>
            </a:pPr>
            <a:r>
              <a:rPr lang="ko-KR" altLang="en-US" sz="17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시연 영상 촬영 및 포트폴리오 링크 추가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D5FD86-6BFA-1A4E-707F-BC3B9DDAF8DE}"/>
              </a:ext>
            </a:extLst>
          </p:cNvPr>
          <p:cNvSpPr txBox="1"/>
          <p:nvPr/>
        </p:nvSpPr>
        <p:spPr>
          <a:xfrm>
            <a:off x="762000" y="64516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|  Portfolio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C54946-E154-EFAC-1436-A63208766FED}"/>
              </a:ext>
            </a:extLst>
          </p:cNvPr>
          <p:cNvSpPr txBox="1"/>
          <p:nvPr/>
        </p:nvSpPr>
        <p:spPr>
          <a:xfrm>
            <a:off x="10668000" y="64516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</a:t>
            </a:r>
            <a:endParaRPr lang="ko-KR" altLang="en-US" sz="10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3998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C9812788-2A29-593C-A765-1DC3D969DAC6}"/>
              </a:ext>
            </a:extLst>
          </p:cNvPr>
          <p:cNvSpPr/>
          <p:nvPr/>
        </p:nvSpPr>
        <p:spPr>
          <a:xfrm>
            <a:off x="0" y="0"/>
            <a:ext cx="3563621" cy="1869441"/>
          </a:xfrm>
          <a:custGeom>
            <a:avLst/>
            <a:gdLst/>
            <a:ahLst/>
            <a:cxnLst/>
            <a:rect l="0" t="0" r="0" b="0"/>
            <a:pathLst>
              <a:path w="3563621" h="1869441">
                <a:moveTo>
                  <a:pt x="0" y="0"/>
                </a:moveTo>
                <a:lnTo>
                  <a:pt x="1694180" y="0"/>
                </a:lnTo>
                <a:lnTo>
                  <a:pt x="3563620" y="1869440"/>
                </a:lnTo>
                <a:lnTo>
                  <a:pt x="1869440" y="1869440"/>
                </a:lnTo>
                <a:close/>
              </a:path>
            </a:pathLst>
          </a:custGeom>
          <a:solidFill>
            <a:srgbClr val="7FD6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D899E94D-3480-EB26-62B1-7B8CDF08BA67}"/>
              </a:ext>
            </a:extLst>
          </p:cNvPr>
          <p:cNvSpPr/>
          <p:nvPr/>
        </p:nvSpPr>
        <p:spPr>
          <a:xfrm>
            <a:off x="0" y="876300"/>
            <a:ext cx="993141" cy="993141"/>
          </a:xfrm>
          <a:custGeom>
            <a:avLst/>
            <a:gdLst/>
            <a:ahLst/>
            <a:cxnLst/>
            <a:rect l="0" t="0" r="0" b="0"/>
            <a:pathLst>
              <a:path w="993141" h="993141">
                <a:moveTo>
                  <a:pt x="0" y="0"/>
                </a:moveTo>
                <a:lnTo>
                  <a:pt x="993140" y="993140"/>
                </a:lnTo>
                <a:lnTo>
                  <a:pt x="0" y="993140"/>
                </a:lnTo>
                <a:close/>
              </a:path>
            </a:pathLst>
          </a:custGeom>
          <a:solidFill>
            <a:srgbClr val="2F63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FC4C95-6885-483C-0174-2062E9029510}"/>
              </a:ext>
            </a:extLst>
          </p:cNvPr>
          <p:cNvSpPr txBox="1"/>
          <p:nvPr/>
        </p:nvSpPr>
        <p:spPr>
          <a:xfrm>
            <a:off x="1905000" y="2413000"/>
            <a:ext cx="8890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5400" b="1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Thank you</a:t>
            </a:r>
            <a:endParaRPr lang="ko-KR" altLang="en-US" sz="5400" b="1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D1C71-9BA7-81D9-99EC-7C0F93C203F1}"/>
              </a:ext>
            </a:extLst>
          </p:cNvPr>
          <p:cNvSpPr txBox="1"/>
          <p:nvPr/>
        </p:nvSpPr>
        <p:spPr>
          <a:xfrm>
            <a:off x="1905000" y="34290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000">
                <a:solidFill>
                  <a:srgbClr val="F2F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MHW Reference Game  -  Unreal Engine 5.8</a:t>
            </a:r>
            <a:endParaRPr lang="ko-KR" altLang="en-US" sz="2000">
              <a:solidFill>
                <a:srgbClr val="F2F4F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0D8846-4B37-5219-40AA-A916FC990DCB}"/>
              </a:ext>
            </a:extLst>
          </p:cNvPr>
          <p:cNvSpPr/>
          <p:nvPr/>
        </p:nvSpPr>
        <p:spPr>
          <a:xfrm>
            <a:off x="1905000" y="4191000"/>
            <a:ext cx="2794000" cy="15240"/>
          </a:xfrm>
          <a:prstGeom prst="rect">
            <a:avLst/>
          </a:prstGeom>
          <a:solidFill>
            <a:srgbClr val="9AA6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A8832-0CD1-F43C-A442-CFDB69593151}"/>
              </a:ext>
            </a:extLst>
          </p:cNvPr>
          <p:cNvSpPr txBox="1"/>
          <p:nvPr/>
        </p:nvSpPr>
        <p:spPr>
          <a:xfrm>
            <a:off x="1905000" y="4394200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9AA6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github.com/GimBOBeat123/MHW_ReferencecGame</a:t>
            </a:r>
            <a:endParaRPr lang="ko-KR" altLang="en-US" sz="1400">
              <a:solidFill>
                <a:srgbClr val="9AA6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576249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916</ep:Words>
  <ep:PresentationFormat>사용자 지정</ep:PresentationFormat>
  <ep:Paragraphs>297</ep:Paragraphs>
  <ep:Slides>12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2026-09-30T13:52:30.000</dcterms:created>
  <dc:creator>지성 양</dc:creator>
  <cp:lastModifiedBy>didwltjd</cp:lastModifiedBy>
  <dcterms:modified xsi:type="dcterms:W3CDTF">2026-09-30T15:02:23.248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